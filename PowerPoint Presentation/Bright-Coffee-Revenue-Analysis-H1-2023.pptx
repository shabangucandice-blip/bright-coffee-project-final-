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6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7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8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9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area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E89C3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81677.73999999999</c:v>
                </c:pt>
                <c:pt idx="1">
                  <c:v>76145.19</c:v>
                </c:pt>
                <c:pt idx="2">
                  <c:v>98834.68</c:v>
                </c:pt>
                <c:pt idx="3">
                  <c:v>118941.08</c:v>
                </c:pt>
                <c:pt idx="4">
                  <c:v>156727.76</c:v>
                </c:pt>
                <c:pt idx="5">
                  <c:v>166485.88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area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5EBD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D1E14"/>
                </a:solidFill>
                <a:latin typeface="Georgia"/>
              </a:defRPr>
            </a:pPr>
            <a:r>
              <a:rPr sz="1400" b="0" i="0" u="none" strike="noStrike">
                <a:solidFill>
                  <a:srgbClr val="2D1E14"/>
                </a:solidFill>
                <a:latin typeface="Georgia"/>
              </a:rPr>
              <a:t>Monthly revenue · all stores (USD)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Astoria</c:v>
                </c:pt>
              </c:strCache>
            </c:strRef>
          </c:tx>
          <c:spPr>
            <a:solidFill>
              <a:srgbClr val="2D1E1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27313.66</c:v>
                </c:pt>
                <c:pt idx="1">
                  <c:v>25105.34</c:v>
                </c:pt>
                <c:pt idx="2">
                  <c:v>32835.43</c:v>
                </c:pt>
                <c:pt idx="3">
                  <c:v>39477.61</c:v>
                </c:pt>
                <c:pt idx="4">
                  <c:v>52428.76</c:v>
                </c:pt>
                <c:pt idx="5">
                  <c:v>55083.11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Hell's Kitchen</c:v>
                </c:pt>
              </c:strCache>
            </c:strRef>
          </c:tx>
          <c:spPr>
            <a:solidFill>
              <a:srgbClr val="C884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27820.65</c:v>
                </c:pt>
                <c:pt idx="1">
                  <c:v>25719.8</c:v>
                </c:pt>
                <c:pt idx="2">
                  <c:v>33110.57</c:v>
                </c:pt>
                <c:pt idx="3">
                  <c:v>40304.14</c:v>
                </c:pt>
                <c:pt idx="4">
                  <c:v>52598.93</c:v>
                </c:pt>
                <c:pt idx="5">
                  <c:v>56957.08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Lower Manhattan</c:v>
                </c:pt>
              </c:strCache>
            </c:strRef>
          </c:tx>
          <c:spPr>
            <a:solidFill>
              <a:srgbClr val="B05A4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26543.43</c:v>
                </c:pt>
                <c:pt idx="1">
                  <c:v>25320.05</c:v>
                </c:pt>
                <c:pt idx="2">
                  <c:v>32888.68</c:v>
                </c:pt>
                <c:pt idx="3">
                  <c:v>39159.33</c:v>
                </c:pt>
                <c:pt idx="4">
                  <c:v>51700.07</c:v>
                </c:pt>
                <c:pt idx="5">
                  <c:v>54445.69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4A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4A3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6B4A33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D1E14"/>
                </a:solidFill>
                <a:latin typeface="Georgia"/>
              </a:defRPr>
            </a:pPr>
            <a:r>
              <a:rPr sz="1400" b="0" i="0" u="none" strike="noStrike">
                <a:solidFill>
                  <a:srgbClr val="2D1E14"/>
                </a:solidFill>
                <a:latin typeface="Georgia"/>
              </a:rPr>
              <a:t>Sales by time bucket × store (USD · H1 2023)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Astoria</c:v>
                </c:pt>
              </c:strCache>
            </c:strRef>
          </c:tx>
          <c:spPr>
            <a:solidFill>
              <a:srgbClr val="2D1E1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Morning</c:v>
                  </c:pt>
                  <c:pt idx="1">
                    <c:v>Afternoon</c:v>
                  </c:pt>
                  <c:pt idx="2">
                    <c:v>Evening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104942.52</c:v>
                </c:pt>
                <c:pt idx="1">
                  <c:v>78567.14</c:v>
                </c:pt>
                <c:pt idx="2">
                  <c:v>48734.25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Hell's Kitchen</c:v>
                </c:pt>
              </c:strCache>
            </c:strRef>
          </c:tx>
          <c:spPr>
            <a:solidFill>
              <a:srgbClr val="C884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Morning</c:v>
                  </c:pt>
                  <c:pt idx="1">
                    <c:v>Afternoon</c:v>
                  </c:pt>
                  <c:pt idx="2">
                    <c:v>Evening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139443.3</c:v>
                </c:pt>
                <c:pt idx="1">
                  <c:v>59012.43</c:v>
                </c:pt>
                <c:pt idx="2">
                  <c:v>38055.44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Lower Manhattan</c:v>
                </c:pt>
              </c:strCache>
            </c:strRef>
          </c:tx>
          <c:spPr>
            <a:solidFill>
              <a:srgbClr val="B05A4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Morning</c:v>
                  </c:pt>
                  <c:pt idx="1">
                    <c:v>Afternoon</c:v>
                  </c:pt>
                  <c:pt idx="2">
                    <c:v>Evening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143902.85</c:v>
                </c:pt>
                <c:pt idx="1">
                  <c:v>67141.26</c:v>
                </c:pt>
                <c:pt idx="2">
                  <c:v>19013.14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4A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4A3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6B4A33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Morning</c:v>
                </c:pt>
              </c:strCache>
            </c:strRef>
          </c:tx>
          <c:spPr>
            <a:solidFill>
              <a:srgbClr val="E89C3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Coffee</c:v>
                  </c:pt>
                  <c:pt idx="1">
                    <c:v>Tea</c:v>
                  </c:pt>
                  <c:pt idx="2">
                    <c:v>Bakery</c:v>
                  </c:pt>
                  <c:pt idx="3">
                    <c:v>Drinking Chocolate</c:v>
                  </c:pt>
                  <c:pt idx="4">
                    <c:v>Coffee Beans</c:v>
                  </c:pt>
                  <c:pt idx="5">
                    <c:v>Branded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134976</c:v>
                </c:pt>
                <c:pt idx="1">
                  <c:v>98203</c:v>
                </c:pt>
                <c:pt idx="2">
                  <c:v>41158</c:v>
                </c:pt>
                <c:pt idx="3">
                  <c:v>36208</c:v>
                </c:pt>
                <c:pt idx="4">
                  <c:v>20043</c:v>
                </c:pt>
                <c:pt idx="5">
                  <c:v>6804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Afternoon</c:v>
                </c:pt>
              </c:strCache>
            </c:strRef>
          </c:tx>
          <c:spPr>
            <a:solidFill>
              <a:srgbClr val="C884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Coffee</c:v>
                  </c:pt>
                  <c:pt idx="1">
                    <c:v>Tea</c:v>
                  </c:pt>
                  <c:pt idx="2">
                    <c:v>Bakery</c:v>
                  </c:pt>
                  <c:pt idx="3">
                    <c:v>Drinking Chocolate</c:v>
                  </c:pt>
                  <c:pt idx="4">
                    <c:v>Coffee Beans</c:v>
                  </c:pt>
                  <c:pt idx="5">
                    <c:v>Branded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80986</c:v>
                </c:pt>
                <c:pt idx="1">
                  <c:v>58922</c:v>
                </c:pt>
                <c:pt idx="2">
                  <c:v>24695</c:v>
                </c:pt>
                <c:pt idx="3">
                  <c:v>21725</c:v>
                </c:pt>
                <c:pt idx="4">
                  <c:v>12026</c:v>
                </c:pt>
                <c:pt idx="5">
                  <c:v>4082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Evening</c:v>
                </c:pt>
              </c:strCache>
            </c:strRef>
          </c:tx>
          <c:spPr>
            <a:solidFill>
              <a:srgbClr val="6B4A3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Coffee</c:v>
                  </c:pt>
                  <c:pt idx="1">
                    <c:v>Tea</c:v>
                  </c:pt>
                  <c:pt idx="2">
                    <c:v>Bakery</c:v>
                  </c:pt>
                  <c:pt idx="3">
                    <c:v>Drinking Chocolate</c:v>
                  </c:pt>
                  <c:pt idx="4">
                    <c:v>Coffee Beans</c:v>
                  </c:pt>
                  <c:pt idx="5">
                    <c:v>Branded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53990</c:v>
                </c:pt>
                <c:pt idx="1">
                  <c:v>39281</c:v>
                </c:pt>
                <c:pt idx="2">
                  <c:v>16463</c:v>
                </c:pt>
                <c:pt idx="3">
                  <c:v>14483</c:v>
                </c:pt>
                <c:pt idx="4">
                  <c:v>8017</c:v>
                </c:pt>
                <c:pt idx="5">
                  <c:v>2721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4A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4A3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6B4A33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Locations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D1E14"/>
              </a:solidFill>
              <a:effectLst/>
            </c:spPr>
          </c:dPt>
          <c:dPt>
            <c:idx val="1"/>
            <c:bubble3D val="0"/>
            <c:spPr>
              <a:solidFill>
                <a:srgbClr val="C8842B"/>
              </a:solidFill>
              <a:effectLst/>
            </c:spPr>
          </c:dPt>
          <c:dPt>
            <c:idx val="2"/>
            <c:bubble3D val="0"/>
            <c:spPr>
              <a:solidFill>
                <a:srgbClr val="B05A47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5EBDC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5EBDC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5EBDC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Astoria</c:v>
                </c:pt>
                <c:pt idx="1">
                  <c:v>Hell's Kitchen</c:v>
                </c:pt>
                <c:pt idx="2">
                  <c:v>Lower Manhattan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232243.91</c:v>
                </c:pt>
                <c:pt idx="1">
                  <c:v>236511.17</c:v>
                </c:pt>
                <c:pt idx="2">
                  <c:v>230057.25</c:v>
                </c:pt>
              </c:numCache>
            </c:numRef>
          </c:val>
        </c:ser>
        <c:firstSliceAng val="0"/>
        <c:holeSize val="65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C884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Astoria</c:v>
                  </c:pt>
                  <c:pt idx="1">
                    <c:v>Hell's K.</c:v>
                  </c:pt>
                  <c:pt idx="2">
                    <c:v>Lower M.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1610</c:v>
                </c:pt>
                <c:pt idx="1">
                  <c:v>1668</c:v>
                </c:pt>
                <c:pt idx="2">
                  <c:v>1444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F5EBD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5EBD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D1E14"/>
                </a:solidFill>
                <a:latin typeface="Georgia"/>
              </a:defRPr>
            </a:pPr>
            <a:r>
              <a:rPr sz="1400" b="0" i="0" u="none" strike="noStrike">
                <a:solidFill>
                  <a:srgbClr val="2D1E14"/>
                </a:solidFill>
                <a:latin typeface="Georgia"/>
              </a:rPr>
              <a:t>All categories · revenue (USD)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C884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Coffee</c:v>
                  </c:pt>
                  <c:pt idx="1">
                    <c:v>Tea</c:v>
                  </c:pt>
                  <c:pt idx="2">
                    <c:v>Bakery</c:v>
                  </c:pt>
                  <c:pt idx="3">
                    <c:v>Drinking Chocolate</c:v>
                  </c:pt>
                  <c:pt idx="4">
                    <c:v>Coffee Beans</c:v>
                  </c:pt>
                  <c:pt idx="5">
                    <c:v>Branded</c:v>
                  </c:pt>
                  <c:pt idx="6">
                    <c:v>Loose Tea</c:v>
                  </c:pt>
                  <c:pt idx="7">
                    <c:v>Packaged Chocolate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269952.45</c:v>
                </c:pt>
                <c:pt idx="1">
                  <c:v>196406</c:v>
                </c:pt>
                <c:pt idx="2">
                  <c:v>82315.65</c:v>
                </c:pt>
                <c:pt idx="3">
                  <c:v>72416</c:v>
                </c:pt>
                <c:pt idx="4">
                  <c:v>40085.25</c:v>
                </c:pt>
                <c:pt idx="5">
                  <c:v>13607</c:v>
                </c:pt>
                <c:pt idx="6">
                  <c:v>11213.6</c:v>
                </c:pt>
                <c:pt idx="7">
                  <c:v>2817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4A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4A3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E89C3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Sustainably Grown Organic Lg</c:v>
                  </c:pt>
                  <c:pt idx="1">
                    <c:v>Dark Chocolate Lg</c:v>
                  </c:pt>
                  <c:pt idx="2">
                    <c:v>Latte Rg</c:v>
                  </c:pt>
                  <c:pt idx="3">
                    <c:v>Morning Sunrise Chai Lg</c:v>
                  </c:pt>
                  <c:pt idx="4">
                    <c:v>Cappuccino Rg</c:v>
                  </c:pt>
                  <c:pt idx="5">
                    <c:v>Brazilian Lg</c:v>
                  </c:pt>
                  <c:pt idx="6">
                    <c:v>Earl Grey Rg</c:v>
                  </c:pt>
                  <c:pt idx="7">
                    <c:v>Jamaican Coffee River Lg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21151.75</c:v>
                </c:pt>
                <c:pt idx="1">
                  <c:v>18723.4</c:v>
                </c:pt>
                <c:pt idx="2">
                  <c:v>17890.2</c:v>
                </c:pt>
                <c:pt idx="3">
                  <c:v>16204.55</c:v>
                </c:pt>
                <c:pt idx="4">
                  <c:v>15742.1</c:v>
                </c:pt>
                <c:pt idx="5">
                  <c:v>14998.3</c:v>
                </c:pt>
                <c:pt idx="6">
                  <c:v>13880.45</c:v>
                </c:pt>
                <c:pt idx="7">
                  <c:v>13211.85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D1E1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4A3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5EBDC"/>
                </a:solidFill>
                <a:latin typeface="Georgia"/>
              </a:defRPr>
            </a:pPr>
            <a:r>
              <a:rPr sz="1300" b="0" i="0" u="none" strike="noStrike">
                <a:solidFill>
                  <a:srgbClr val="F5EBDC"/>
                </a:solidFill>
                <a:latin typeface="Georgia"/>
              </a:rPr>
              <a:t>Monthly revenue · all locations combined (USD)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E89C3F"/>
            </a:solidFill>
            <a:ln w="50800" cap="flat">
              <a:solidFill>
                <a:srgbClr val="E89C3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12"/>
            <c:spPr>
              <a:solidFill>
                <a:srgbClr val="E89C3F"/>
              </a:solidFill>
              <a:ln w="9525" cap="flat">
                <a:solidFill>
                  <a:srgbClr val="F5EBD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81677.73999999999</c:v>
                </c:pt>
                <c:pt idx="1">
                  <c:v>76145.19</c:v>
                </c:pt>
                <c:pt idx="2">
                  <c:v>98834.68</c:v>
                </c:pt>
                <c:pt idx="3">
                  <c:v>118941.08</c:v>
                </c:pt>
                <c:pt idx="4">
                  <c:v>156727.76</c:v>
                </c:pt>
                <c:pt idx="5">
                  <c:v>166485.88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5EBD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5EBD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1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D1E14"/>
          </a:solidFill>
          <a:ln w="12700">
            <a:solidFill>
              <a:srgbClr val="2D1E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8842B"/>
          </a:solidFill>
          <a:ln w="12700">
            <a:solidFill>
              <a:srgbClr val="C884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502920"/>
            <a:ext cx="146304" cy="146304"/>
          </a:xfrm>
          <a:prstGeom prst="ellipse">
            <a:avLst/>
          </a:prstGeom>
          <a:solidFill>
            <a:srgbClr val="C8842B"/>
          </a:solidFill>
          <a:ln w="12700">
            <a:solidFill>
              <a:srgbClr val="C884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5EB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Bright Coffee  ·  A CONFIDENTIAL REPORT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89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Indulgent moments in every cup.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" y="2194560"/>
            <a:ext cx="100584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000"/>
              </a:lnSpc>
              <a:buNone/>
            </a:pPr>
            <a:r>
              <a:rPr lang="en-US" sz="9600" dirty="0">
                <a:solidFill>
                  <a:srgbClr val="F5EB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Bright
</a:t>
            </a:r>
            <a:pPr indent="0" marL="0">
              <a:lnSpc>
                <a:spcPts val="9000"/>
              </a:lnSpc>
              <a:buNone/>
            </a:pPr>
            <a:r>
              <a:rPr lang="en-US" sz="9600" i="1" dirty="0">
                <a:solidFill>
                  <a:srgbClr val="E89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Coffee.</a:t>
            </a:r>
            <a:endParaRPr lang="en-US" sz="9600" dirty="0"/>
          </a:p>
        </p:txBody>
      </p:sp>
      <p:sp>
        <p:nvSpPr>
          <p:cNvPr id="8" name="Shape 6"/>
          <p:cNvSpPr/>
          <p:nvPr/>
        </p:nvSpPr>
        <p:spPr>
          <a:xfrm>
            <a:off x="777240" y="5349240"/>
            <a:ext cx="2011680" cy="0"/>
          </a:xfrm>
          <a:prstGeom prst="line">
            <a:avLst/>
          </a:prstGeom>
          <a:noFill/>
          <a:ln w="12700">
            <a:solidFill>
              <a:srgbClr val="C884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54406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E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Analysis &amp; Strategic Recommendations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5E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– June 2023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62636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F5EBDC"/>
                </a:solidFill>
              </a:rPr>
              <a:t>PREPARED BY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EB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Ishe Anopa Consultants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0" y="626364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400" kern="0" dirty="0">
                <a:solidFill>
                  <a:srgbClr val="F5EBDC"/>
                </a:solidFill>
              </a:rPr>
              <a:t>VOLUME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F5EB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No. 01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28016" cy="128016"/>
          </a:xfrm>
          <a:prstGeom prst="ellipse">
            <a:avLst/>
          </a:prstGeom>
          <a:solidFill>
            <a:srgbClr val="C8842B"/>
          </a:solidFill>
          <a:ln w="12700">
            <a:solidFill>
              <a:srgbClr val="C884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9260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4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Bright Coffee</a:t>
            </a:r>
            <a:pPr indent="0" marL="0">
              <a:buNone/>
            </a:pPr>
            <a:r>
              <a:rPr lang="en-US" sz="1200" dirty="0">
                <a:solidFill>
                  <a:srgbClr val="6B4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900" spc="400" kern="0" dirty="0">
                <a:solidFill>
                  <a:srgbClr val="6B4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ANALYSIS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0" y="292608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6B4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pPr algn="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    </a:t>
            </a:r>
            <a:pPr algn="r" indent="0" marL="0">
              <a:buNone/>
            </a:pPr>
            <a:r>
              <a:rPr lang="en-US" sz="900" dirty="0">
                <a:solidFill>
                  <a:srgbClr val="6B4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21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77240" y="1252728"/>
            <a:ext cx="274320" cy="18288"/>
          </a:xfrm>
          <a:prstGeom prst="rect">
            <a:avLst/>
          </a:prstGeom>
          <a:solidFill>
            <a:srgbClr val="6B4A33"/>
          </a:solidFill>
          <a:ln w="12700">
            <a:solidFill>
              <a:srgbClr val="6B4A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1887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B4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THIS REPORT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1554480"/>
            <a:ext cx="4572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5200" dirty="0">
                <a:solidFill>
                  <a:srgbClr val="2D1E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 of
</a:t>
            </a:r>
            <a:pPr indent="0" marL="0">
              <a:lnSpc>
                <a:spcPts val="5200"/>
              </a:lnSpc>
              <a:buNone/>
            </a:pPr>
            <a:r>
              <a:rPr lang="en-US" sz="5200" i="1" dirty="0">
                <a:solidFill>
                  <a:srgbClr val="C88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Contents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120640" y="12801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C88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760720" y="12801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1E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Presentation Overview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60720" y="16459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4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mandate and methodology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760720" y="2057400"/>
            <a:ext cx="2743200" cy="0"/>
          </a:xfrm>
          <a:prstGeom prst="line">
            <a:avLst/>
          </a:prstGeom>
          <a:noFill/>
          <a:ln w="6350">
            <a:solidFill>
              <a:srgbClr val="C9B79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41080" y="12801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C88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9281160" y="12801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1E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Processing System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281160" y="16459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4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transactions to insight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281160" y="2057400"/>
            <a:ext cx="2743200" cy="0"/>
          </a:xfrm>
          <a:prstGeom prst="line">
            <a:avLst/>
          </a:prstGeom>
          <a:noFill/>
          <a:ln w="6350">
            <a:solidFill>
              <a:srgbClr val="C9B79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0" y="25603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C88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760720" y="25603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1E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 Dashboard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760720" y="29260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4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metrics at a glance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760720" y="3337560"/>
            <a:ext cx="2743200" cy="0"/>
          </a:xfrm>
          <a:prstGeom prst="line">
            <a:avLst/>
          </a:prstGeom>
          <a:noFill/>
          <a:ln w="6350">
            <a:solidFill>
              <a:srgbClr val="C9B79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41080" y="25603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C88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9281160" y="25603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1E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by Location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281160" y="29260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4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stores, six months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281160" y="3337560"/>
            <a:ext cx="2743200" cy="0"/>
          </a:xfrm>
          <a:prstGeom prst="line">
            <a:avLst/>
          </a:prstGeom>
          <a:noFill/>
          <a:ln w="6350">
            <a:solidFill>
              <a:srgbClr val="C9B79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0" y="38404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C88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5760720" y="38404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1E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Time-of-Day Analysis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760720" y="42062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4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city drinks coffee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760720" y="4617720"/>
            <a:ext cx="2743200" cy="0"/>
          </a:xfrm>
          <a:prstGeom prst="line">
            <a:avLst/>
          </a:prstGeom>
          <a:noFill/>
          <a:ln w="6350">
            <a:solidFill>
              <a:srgbClr val="C9B79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41080" y="38404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C88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9281160" y="38404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1E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Category Performance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281160" y="42062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4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selling, what is not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281160" y="4617720"/>
            <a:ext cx="2743200" cy="0"/>
          </a:xfrm>
          <a:prstGeom prst="line">
            <a:avLst/>
          </a:prstGeom>
          <a:noFill/>
          <a:ln w="6350">
            <a:solidFill>
              <a:srgbClr val="C9B79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20640" y="51206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C88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5760720" y="51206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1E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&amp; Bottom Products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760720" y="54864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4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Heroes and laggards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760720" y="5897880"/>
            <a:ext cx="2743200" cy="0"/>
          </a:xfrm>
          <a:prstGeom prst="line">
            <a:avLst/>
          </a:prstGeom>
          <a:noFill/>
          <a:ln w="6350">
            <a:solidFill>
              <a:srgbClr val="C9B79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41080" y="51206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C88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9281160" y="51206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1E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Strategy &amp; Recommendations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281160" y="54864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4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go from here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9281160" y="5897880"/>
            <a:ext cx="2743200" cy="0"/>
          </a:xfrm>
          <a:prstGeom prst="line">
            <a:avLst/>
          </a:prstGeom>
          <a:noFill/>
          <a:ln w="6350">
            <a:solidFill>
              <a:srgbClr val="C9B79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28016" cy="128016"/>
          </a:xfrm>
          <a:prstGeom prst="ellipse">
            <a:avLst/>
          </a:prstGeom>
          <a:solidFill>
            <a:srgbClr val="C8842B"/>
          </a:solidFill>
          <a:ln w="12700">
            <a:solidFill>
              <a:srgbClr val="C884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9260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4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Bright Coffee</a:t>
            </a:r>
            <a:pPr indent="0" marL="0">
              <a:buNone/>
            </a:pPr>
            <a:r>
              <a:rPr lang="en-US" sz="1200" dirty="0">
                <a:solidFill>
                  <a:srgbClr val="6B4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900" spc="400" kern="0" dirty="0">
                <a:solidFill>
                  <a:srgbClr val="6B4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ANALYSIS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0" y="292608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6B4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OVERVIEW</a:t>
            </a:r>
            <a:pPr algn="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    </a:t>
            </a:r>
            <a:pPr algn="r" indent="0" marL="0">
              <a:buNone/>
            </a:pPr>
            <a:r>
              <a:rPr lang="en-US" sz="900" dirty="0">
                <a:solidFill>
                  <a:srgbClr val="6B4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21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77240" y="1252728"/>
            <a:ext cx="274320" cy="18288"/>
          </a:xfrm>
          <a:prstGeom prst="rect">
            <a:avLst/>
          </a:prstGeom>
          <a:solidFill>
            <a:srgbClr val="6B4A33"/>
          </a:solidFill>
          <a:ln w="12700">
            <a:solidFill>
              <a:srgbClr val="6B4A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1887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B4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MANDATE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1554480"/>
            <a:ext cx="6400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800" dirty="0">
                <a:solidFill>
                  <a:srgbClr val="2D1E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raw data
</a:t>
            </a:r>
            <a:pPr indent="0" marL="0">
              <a:lnSpc>
                <a:spcPts val="5200"/>
              </a:lnSpc>
              <a:buNone/>
            </a:pPr>
            <a:r>
              <a:rPr lang="en-US" sz="4800" dirty="0">
                <a:solidFill>
                  <a:srgbClr val="2D1E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</a:t>
            </a:r>
            <a:pPr indent="0" marL="0">
              <a:lnSpc>
                <a:spcPts val="5200"/>
              </a:lnSpc>
              <a:buNone/>
            </a:pPr>
            <a:r>
              <a:rPr lang="en-US" sz="4800" i="1" dirty="0">
                <a:solidFill>
                  <a:srgbClr val="C88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actionable
</a:t>
            </a:r>
            <a:pPr indent="0" marL="0">
              <a:lnSpc>
                <a:spcPts val="5200"/>
              </a:lnSpc>
              <a:buNone/>
            </a:pPr>
            <a:r>
              <a:rPr lang="en-US" sz="4800" dirty="0">
                <a:solidFill>
                  <a:srgbClr val="2D1E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intelligence.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777240" y="4114800"/>
            <a:ext cx="64008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D1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were mandated to conduct a comprehensive sales analysis for Bright Coffee Shop using transactional data captured between 1 January – 30 June 2023.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D1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objective: not merely to report historical performance, but to extract the insights that inform the incoming executive team's vision — to scale, grow and strengthen Bright's market position sustainably.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680960" y="1188720"/>
            <a:ext cx="3931920" cy="2926080"/>
          </a:xfrm>
          <a:prstGeom prst="rect">
            <a:avLst/>
          </a:prstGeom>
          <a:solidFill>
            <a:srgbClr val="2D1E14"/>
          </a:solidFill>
          <a:ln w="12700">
            <a:solidFill>
              <a:srgbClr val="2D1E1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0" y="12801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rgbClr val="C88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7955280" y="201168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5EB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 beverage is expected;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F5EB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experience is what differentiates."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955280" y="36576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C8842B"/>
                </a:solidFill>
              </a:rPr>
              <a:t>— CLOSING THESIS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680960" y="4297680"/>
            <a:ext cx="1234440" cy="1280160"/>
          </a:xfrm>
          <a:prstGeom prst="rect">
            <a:avLst/>
          </a:prstGeom>
          <a:solidFill>
            <a:srgbClr val="E8D9C2"/>
          </a:solidFill>
          <a:ln w="12700">
            <a:solidFill>
              <a:srgbClr val="E8D9C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0" y="438912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2D1E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680960" y="512064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300" kern="0" dirty="0">
                <a:solidFill>
                  <a:srgbClr val="6B4A33"/>
                </a:solidFill>
              </a:rPr>
              <a:t>MONTHS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9006840" y="4297680"/>
            <a:ext cx="1234440" cy="1280160"/>
          </a:xfrm>
          <a:prstGeom prst="rect">
            <a:avLst/>
          </a:prstGeom>
          <a:solidFill>
            <a:srgbClr val="E8D9C2"/>
          </a:solidFill>
          <a:ln w="12700">
            <a:solidFill>
              <a:srgbClr val="E8D9C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06840" y="438912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2D1E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006840" y="512064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300" kern="0" dirty="0">
                <a:solidFill>
                  <a:srgbClr val="6B4A33"/>
                </a:solidFill>
              </a:rPr>
              <a:t>STORES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0332720" y="4297680"/>
            <a:ext cx="1234440" cy="1280160"/>
          </a:xfrm>
          <a:prstGeom prst="rect">
            <a:avLst/>
          </a:prstGeom>
          <a:solidFill>
            <a:srgbClr val="E8D9C2"/>
          </a:solidFill>
          <a:ln w="12700">
            <a:solidFill>
              <a:srgbClr val="E8D9C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332720" y="438912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2D1E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149K+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0332720" y="512064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300" kern="0" dirty="0">
                <a:solidFill>
                  <a:srgbClr val="6B4A33"/>
                </a:solidFill>
              </a:rPr>
              <a:t>TRANSACTIONS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28016" cy="128016"/>
          </a:xfrm>
          <a:prstGeom prst="ellipse">
            <a:avLst/>
          </a:prstGeom>
          <a:solidFill>
            <a:srgbClr val="C8842B"/>
          </a:solidFill>
          <a:ln w="12700">
            <a:solidFill>
              <a:srgbClr val="C884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9260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4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Bright Coffee</a:t>
            </a:r>
            <a:pPr indent="0" marL="0">
              <a:buNone/>
            </a:pPr>
            <a:r>
              <a:rPr lang="en-US" sz="1200" dirty="0">
                <a:solidFill>
                  <a:srgbClr val="6B4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900" spc="400" kern="0" dirty="0">
                <a:solidFill>
                  <a:srgbClr val="6B4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ANALYSIS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0" y="292608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6B4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METHODOLOGY</a:t>
            </a:r>
            <a:pPr algn="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    </a:t>
            </a:r>
            <a:pPr algn="r" indent="0" marL="0">
              <a:buNone/>
            </a:pPr>
            <a:r>
              <a:rPr lang="en-US" sz="900" dirty="0">
                <a:solidFill>
                  <a:srgbClr val="6B4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21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77240" y="1252728"/>
            <a:ext cx="274320" cy="18288"/>
          </a:xfrm>
          <a:prstGeom prst="rect">
            <a:avLst/>
          </a:prstGeom>
          <a:solidFill>
            <a:srgbClr val="6B4A33"/>
          </a:solidFill>
          <a:ln w="12700">
            <a:solidFill>
              <a:srgbClr val="6B4A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1887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B4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DATA MOVES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15544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2D1E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processing system.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229600" y="164592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4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four-step pipeline from spreadsheet to insight — every metric in this deck is traceable through this workflow.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371600" y="3383280"/>
            <a:ext cx="9418320" cy="0"/>
          </a:xfrm>
          <a:prstGeom prst="line">
            <a:avLst/>
          </a:prstGeom>
          <a:noFill/>
          <a:ln w="12700">
            <a:solidFill>
              <a:srgbClr val="C8842B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777240" y="3108960"/>
            <a:ext cx="2606040" cy="2377440"/>
          </a:xfrm>
          <a:prstGeom prst="rect">
            <a:avLst/>
          </a:prstGeom>
          <a:solidFill>
            <a:srgbClr val="F5EBDC"/>
          </a:solidFill>
          <a:ln w="6350">
            <a:solidFill>
              <a:srgbClr val="C9B79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5840" y="2880360"/>
            <a:ext cx="548640" cy="548640"/>
          </a:xfrm>
          <a:prstGeom prst="ellipse">
            <a:avLst/>
          </a:prstGeom>
          <a:solidFill>
            <a:srgbClr val="2D1E14"/>
          </a:solidFill>
          <a:ln w="12700">
            <a:solidFill>
              <a:srgbClr val="2D1E1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880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B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36576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D1E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Collection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1051560" y="4160520"/>
            <a:ext cx="365760" cy="0"/>
          </a:xfrm>
          <a:prstGeom prst="line">
            <a:avLst/>
          </a:prstGeom>
          <a:noFill/>
          <a:ln w="12700">
            <a:solidFill>
              <a:srgbClr val="C884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425196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4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Excel source files captured at point of sale.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566160" y="3108960"/>
            <a:ext cx="2606040" cy="2377440"/>
          </a:xfrm>
          <a:prstGeom prst="rect">
            <a:avLst/>
          </a:prstGeom>
          <a:solidFill>
            <a:srgbClr val="F5EBDC"/>
          </a:solidFill>
          <a:ln w="6350">
            <a:solidFill>
              <a:srgbClr val="C9B79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94760" y="2880360"/>
            <a:ext cx="548640" cy="548640"/>
          </a:xfrm>
          <a:prstGeom prst="ellipse">
            <a:avLst/>
          </a:prstGeom>
          <a:solidFill>
            <a:srgbClr val="2D1E14"/>
          </a:solidFill>
          <a:ln w="12700">
            <a:solidFill>
              <a:srgbClr val="2D1E1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94760" y="2880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B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840480" y="36576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D1E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Ingestion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3840480" y="4160520"/>
            <a:ext cx="365760" cy="0"/>
          </a:xfrm>
          <a:prstGeom prst="line">
            <a:avLst/>
          </a:prstGeom>
          <a:noFill/>
          <a:ln w="12700">
            <a:solidFill>
              <a:srgbClr val="C884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0" y="425196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4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ingested into Databricks; manual ETL workflow.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355080" y="3108960"/>
            <a:ext cx="2606040" cy="2377440"/>
          </a:xfrm>
          <a:prstGeom prst="rect">
            <a:avLst/>
          </a:prstGeom>
          <a:solidFill>
            <a:srgbClr val="F5EBDC"/>
          </a:solidFill>
          <a:ln w="6350">
            <a:solidFill>
              <a:srgbClr val="C9B79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83680" y="2880360"/>
            <a:ext cx="548640" cy="548640"/>
          </a:xfrm>
          <a:prstGeom prst="ellipse">
            <a:avLst/>
          </a:prstGeom>
          <a:solidFill>
            <a:srgbClr val="2D1E14"/>
          </a:solidFill>
          <a:ln w="12700">
            <a:solidFill>
              <a:srgbClr val="2D1E1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0" y="2880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B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629400" y="36576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D1E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Processing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6629400" y="4160520"/>
            <a:ext cx="365760" cy="0"/>
          </a:xfrm>
          <a:prstGeom prst="line">
            <a:avLst/>
          </a:prstGeom>
          <a:noFill/>
          <a:ln w="12700">
            <a:solidFill>
              <a:srgbClr val="C884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29400" y="425196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4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cleaning, type-casting, time-bucket columns.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144000" y="3108960"/>
            <a:ext cx="2606040" cy="2377440"/>
          </a:xfrm>
          <a:prstGeom prst="rect">
            <a:avLst/>
          </a:prstGeom>
          <a:solidFill>
            <a:srgbClr val="F5EBDC"/>
          </a:solidFill>
          <a:ln w="6350">
            <a:solidFill>
              <a:srgbClr val="C9B79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372600" y="2880360"/>
            <a:ext cx="548640" cy="548640"/>
          </a:xfrm>
          <a:prstGeom prst="ellipse">
            <a:avLst/>
          </a:prstGeom>
          <a:solidFill>
            <a:srgbClr val="2D1E14"/>
          </a:solidFill>
          <a:ln w="12700">
            <a:solidFill>
              <a:srgbClr val="2D1E1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372600" y="2880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B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418320" y="36576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D1E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9418320" y="4160520"/>
            <a:ext cx="365760" cy="0"/>
          </a:xfrm>
          <a:prstGeom prst="line">
            <a:avLst/>
          </a:prstGeom>
          <a:noFill/>
          <a:ln w="12700">
            <a:solidFill>
              <a:srgbClr val="C8842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418320" y="425196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4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Pivot, derive metrics, export to PowerPoint.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77240" y="5852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88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1280160" y="585216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1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columns created — including transaction time buckets to group sales into intervals.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26280" y="5852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88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5029200" y="585216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1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 correctly cast (e.g. unit_price). Total transaction = unit_price × transaction_qty.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275320" y="5852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88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8778240" y="585216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1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datasets stored in Databricks; final insights composed in PowerPoint.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D1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28016" cy="128016"/>
          </a:xfrm>
          <a:prstGeom prst="ellipse">
            <a:avLst/>
          </a:prstGeom>
          <a:solidFill>
            <a:srgbClr val="C8842B"/>
          </a:solidFill>
          <a:ln w="12700">
            <a:solidFill>
              <a:srgbClr val="C884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9260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5EB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Bright Coffee</a:t>
            </a:r>
            <a:pPr indent="0" marL="0">
              <a:buNone/>
            </a:pPr>
            <a:r>
              <a:rPr lang="en-US" sz="1200" dirty="0">
                <a:solidFill>
                  <a:srgbClr val="F5E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900" spc="400" kern="0" dirty="0">
                <a:solidFill>
                  <a:srgbClr val="F5E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ANALYSIS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0" y="292608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F5E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DASHBOARD</a:t>
            </a:r>
            <a:pPr algn="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    </a:t>
            </a:r>
            <a:pPr algn="r" indent="0" marL="0">
              <a:buNone/>
            </a:pPr>
            <a:r>
              <a:rPr lang="en-US" sz="900" dirty="0">
                <a:solidFill>
                  <a:srgbClr val="F5EB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21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77240" y="1252728"/>
            <a:ext cx="274320" cy="18288"/>
          </a:xfrm>
          <a:prstGeom prst="rect">
            <a:avLst/>
          </a:prstGeom>
          <a:solidFill>
            <a:srgbClr val="C8842B"/>
          </a:solidFill>
          <a:ln w="12700">
            <a:solidFill>
              <a:srgbClr val="C884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1887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C88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METRICS · H1 2023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15544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5EB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numbers, </a:t>
            </a:r>
            <a:pPr indent="0" marL="0">
              <a:buNone/>
            </a:pPr>
            <a:r>
              <a:rPr lang="en-US" sz="4000" i="1" dirty="0">
                <a:solidFill>
                  <a:srgbClr val="C88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 a glance.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777240" y="2606040"/>
            <a:ext cx="4846320" cy="3931920"/>
          </a:xfrm>
          <a:prstGeom prst="rect">
            <a:avLst/>
          </a:prstGeom>
          <a:solidFill>
            <a:srgbClr val="3E2A1C"/>
          </a:solidFill>
          <a:ln w="6350">
            <a:solidFill>
              <a:srgbClr val="6B4A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743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C8842B"/>
                </a:solidFill>
              </a:rPr>
              <a:t>TOTAL REVENUE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60120" y="3017520"/>
            <a:ext cx="4572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rgbClr val="E89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$699</a:t>
            </a:r>
            <a:pPr indent="0" marL="0">
              <a:buNone/>
            </a:pPr>
            <a:r>
              <a:rPr lang="en-US" sz="4000" dirty="0">
                <a:solidFill>
                  <a:srgbClr val="F5EB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</a:t>
            </a:r>
            <a:endParaRPr lang="en-US" sz="8800" dirty="0"/>
          </a:p>
        </p:txBody>
      </p:sp>
      <p:sp>
        <p:nvSpPr>
          <p:cNvPr id="11" name="Text 9"/>
          <p:cNvSpPr/>
          <p:nvPr/>
        </p:nvSpPr>
        <p:spPr>
          <a:xfrm>
            <a:off x="960120" y="4572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E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$698,812</a:t>
            </a:r>
            <a:endParaRPr lang="en-US" sz="12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868680" y="4937760"/>
          <a:ext cx="4663440" cy="1280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10"/>
          <p:cNvSpPr/>
          <p:nvPr/>
        </p:nvSpPr>
        <p:spPr>
          <a:xfrm>
            <a:off x="960120" y="62636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842B"/>
                </a:solidFill>
              </a:rPr>
              <a:t>▲ +104% growth Jan → Jun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852160" y="2606040"/>
            <a:ext cx="2788920" cy="1874520"/>
          </a:xfrm>
          <a:prstGeom prst="rect">
            <a:avLst/>
          </a:prstGeom>
          <a:solidFill>
            <a:srgbClr val="3E2A1C"/>
          </a:solidFill>
          <a:ln w="6350">
            <a:solidFill>
              <a:srgbClr val="6B4A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35040" y="28346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5EB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116,034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6035040" y="37490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C8842B"/>
                </a:solidFill>
              </a:rPr>
              <a:t>UNITS SOLD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035040" y="40233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BDC"/>
                </a:solidFill>
              </a:rPr>
              <a:t>across all categories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778240" y="2606040"/>
            <a:ext cx="2788920" cy="1874520"/>
          </a:xfrm>
          <a:prstGeom prst="rect">
            <a:avLst/>
          </a:prstGeom>
          <a:solidFill>
            <a:srgbClr val="3E2A1C"/>
          </a:solidFill>
          <a:ln w="6350">
            <a:solidFill>
              <a:srgbClr val="6B4A3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961120" y="28346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5EB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Hell's Kitchen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8961120" y="37490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C8842B"/>
                </a:solidFill>
              </a:rPr>
              <a:t>TOP STORE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961120" y="40233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BDC"/>
                </a:solidFill>
              </a:rPr>
              <a:t>$236,511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852160" y="4617720"/>
            <a:ext cx="2788920" cy="1874520"/>
          </a:xfrm>
          <a:prstGeom prst="rect">
            <a:avLst/>
          </a:prstGeom>
          <a:solidFill>
            <a:srgbClr val="3E2A1C"/>
          </a:solidFill>
          <a:ln w="6350">
            <a:solidFill>
              <a:srgbClr val="6B4A3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035040" y="48463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5EB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50%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6035040" y="5760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C8842B"/>
                </a:solidFill>
              </a:rPr>
              <a:t>MORNING SHARE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035040" y="6035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BDC"/>
                </a:solidFill>
              </a:rPr>
              <a:t>of total daily revenue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8778240" y="4617720"/>
            <a:ext cx="2788920" cy="1874520"/>
          </a:xfrm>
          <a:prstGeom prst="rect">
            <a:avLst/>
          </a:prstGeom>
          <a:solidFill>
            <a:srgbClr val="3E2A1C"/>
          </a:solidFill>
          <a:ln w="6350">
            <a:solidFill>
              <a:srgbClr val="6B4A3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961120" y="48463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5EB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Sustainably Org. Lg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8961120" y="5760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C8842B"/>
                </a:solidFill>
              </a:rPr>
              <a:t>HERO PRODUCT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8961120" y="6035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BDC"/>
                </a:solidFill>
              </a:rPr>
              <a:t>$21,152 · 4,453 units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11612880" y="2606040"/>
            <a:ext cx="0" cy="0"/>
          </a:xfrm>
          <a:prstGeom prst="rect">
            <a:avLst/>
          </a:prstGeom>
          <a:solidFill>
            <a:srgbClr val="3E2A1C"/>
          </a:solidFill>
          <a:ln w="12700">
            <a:solidFill>
              <a:srgbClr val="3E2A1C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28016" cy="128016"/>
          </a:xfrm>
          <a:prstGeom prst="ellipse">
            <a:avLst/>
          </a:prstGeom>
          <a:solidFill>
            <a:srgbClr val="C8842B"/>
          </a:solidFill>
          <a:ln w="12700">
            <a:solidFill>
              <a:srgbClr val="C884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9260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4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Bright Coffee</a:t>
            </a:r>
            <a:pPr indent="0" marL="0">
              <a:buNone/>
            </a:pPr>
            <a:r>
              <a:rPr lang="en-US" sz="1200" dirty="0">
                <a:solidFill>
                  <a:srgbClr val="6B4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900" spc="400" kern="0" dirty="0">
                <a:solidFill>
                  <a:srgbClr val="6B4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ANALYSIS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0" y="292608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6B4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LOCATIONS</a:t>
            </a:r>
            <a:pPr algn="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    </a:t>
            </a:r>
            <a:pPr algn="r" indent="0" marL="0">
              <a:buNone/>
            </a:pPr>
            <a:r>
              <a:rPr lang="en-US" sz="900" dirty="0">
                <a:solidFill>
                  <a:srgbClr val="6B4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21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77240" y="1252728"/>
            <a:ext cx="274320" cy="18288"/>
          </a:xfrm>
          <a:prstGeom prst="rect">
            <a:avLst/>
          </a:prstGeom>
          <a:solidFill>
            <a:srgbClr val="6B4A33"/>
          </a:solidFill>
          <a:ln w="12700">
            <a:solidFill>
              <a:srgbClr val="6B4A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1887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B4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LOCATION × MONTH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155448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2D1E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steady
</a:t>
            </a:r>
            <a:pPr indent="0" marL="0">
              <a:buNone/>
            </a:pPr>
            <a:r>
              <a:rPr lang="en-US" sz="4400" i="1" dirty="0">
                <a:solidFill>
                  <a:srgbClr val="C88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climb.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777240" y="365760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B4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rose steadily — climbing from ~$27k in January to ~$56k in June. Hell's Kitchen consistently generates the highest monthly sales; Lower Manhattan trails slightly.</a:t>
            </a:r>
            <a:endParaRPr lang="en-US" sz="12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754880" y="1188720"/>
          <a:ext cx="6858000" cy="5212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777240" y="5760720"/>
            <a:ext cx="137160" cy="137160"/>
          </a:xfrm>
          <a:prstGeom prst="ellipse">
            <a:avLst/>
          </a:prstGeom>
          <a:solidFill>
            <a:srgbClr val="2D1E14"/>
          </a:solidFill>
          <a:ln w="12700">
            <a:solidFill>
              <a:srgbClr val="2D1E1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58978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1E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$232.2k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77240" y="626364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4A33"/>
                </a:solidFill>
              </a:rPr>
              <a:t>Astoria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057400" y="5760720"/>
            <a:ext cx="137160" cy="137160"/>
          </a:xfrm>
          <a:prstGeom prst="ellipse">
            <a:avLst/>
          </a:prstGeom>
          <a:solidFill>
            <a:srgbClr val="C8842B"/>
          </a:solidFill>
          <a:ln w="12700">
            <a:solidFill>
              <a:srgbClr val="C8842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057400" y="58978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1E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$236.5k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057400" y="626364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4A33"/>
                </a:solidFill>
              </a:rPr>
              <a:t>Hell's Kitchen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3337560" y="5760720"/>
            <a:ext cx="137160" cy="137160"/>
          </a:xfrm>
          <a:prstGeom prst="ellipse">
            <a:avLst/>
          </a:prstGeom>
          <a:solidFill>
            <a:srgbClr val="B05A47"/>
          </a:solidFill>
          <a:ln w="12700">
            <a:solidFill>
              <a:srgbClr val="B05A4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337560" y="58978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1E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$230.1k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3337560" y="626364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4A33"/>
                </a:solidFill>
              </a:rPr>
              <a:t>Lower Manhattan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28016" cy="128016"/>
          </a:xfrm>
          <a:prstGeom prst="ellipse">
            <a:avLst/>
          </a:prstGeom>
          <a:solidFill>
            <a:srgbClr val="C8842B"/>
          </a:solidFill>
          <a:ln w="12700">
            <a:solidFill>
              <a:srgbClr val="C884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9260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4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Bright Coffee</a:t>
            </a:r>
            <a:pPr indent="0" marL="0">
              <a:buNone/>
            </a:pPr>
            <a:r>
              <a:rPr lang="en-US" sz="1200" dirty="0">
                <a:solidFill>
                  <a:srgbClr val="6B4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900" spc="400" kern="0" dirty="0">
                <a:solidFill>
                  <a:srgbClr val="6B4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ANALYSIS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0" y="292608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6B4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TIME OF DAY</a:t>
            </a:r>
            <a:pPr algn="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    </a:t>
            </a:r>
            <a:pPr algn="r" indent="0" marL="0">
              <a:buNone/>
            </a:pPr>
            <a:r>
              <a:rPr lang="en-US" sz="900" dirty="0">
                <a:solidFill>
                  <a:srgbClr val="6B4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21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188720"/>
          <a:ext cx="7132320" cy="5394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229600" y="1252728"/>
            <a:ext cx="274320" cy="18288"/>
          </a:xfrm>
          <a:prstGeom prst="rect">
            <a:avLst/>
          </a:prstGeom>
          <a:solidFill>
            <a:srgbClr val="6B4A33"/>
          </a:solidFill>
          <a:ln w="12700">
            <a:solidFill>
              <a:srgbClr val="6B4A3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95360" y="11887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B4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CITY DRINKS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229600" y="150876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2D1E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morning
</a:t>
            </a:r>
            <a:pPr indent="0" marL="0">
              <a:buNone/>
            </a:pPr>
            <a:r>
              <a:rPr lang="en-US" sz="3600" i="1" dirty="0">
                <a:solidFill>
                  <a:srgbClr val="C88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window.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8229600" y="310896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4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peak in the morning across every store. Some locations show stronger evening demand — genuinely location-specific behaviour.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229600" y="4297680"/>
            <a:ext cx="3383280" cy="640080"/>
          </a:xfrm>
          <a:prstGeom prst="rect">
            <a:avLst/>
          </a:prstGeom>
          <a:solidFill>
            <a:srgbClr val="E8D9C2"/>
          </a:solidFill>
          <a:ln w="12700">
            <a:solidFill>
              <a:srgbClr val="E8D9C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321040" y="4389120"/>
            <a:ext cx="457200" cy="457200"/>
          </a:xfrm>
          <a:prstGeom prst="ellipse">
            <a:avLst/>
          </a:prstGeom>
          <a:solidFill>
            <a:srgbClr val="E89C3F"/>
          </a:solidFill>
          <a:ln w="12700">
            <a:solidFill>
              <a:srgbClr val="E89C3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15400" y="43891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4A33"/>
                </a:solidFill>
              </a:rPr>
              <a:t>MORNING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8915400" y="45902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1E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$388,289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8229600" y="5074920"/>
            <a:ext cx="3383280" cy="640080"/>
          </a:xfrm>
          <a:prstGeom prst="rect">
            <a:avLst/>
          </a:prstGeom>
          <a:solidFill>
            <a:srgbClr val="E8D9C2"/>
          </a:solidFill>
          <a:ln w="12700">
            <a:solidFill>
              <a:srgbClr val="E8D9C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321040" y="5166360"/>
            <a:ext cx="457200" cy="457200"/>
          </a:xfrm>
          <a:prstGeom prst="ellipse">
            <a:avLst/>
          </a:prstGeom>
          <a:solidFill>
            <a:srgbClr val="C8842B"/>
          </a:solidFill>
          <a:ln w="12700">
            <a:solidFill>
              <a:srgbClr val="C8842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915400" y="51663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4A33"/>
                </a:solidFill>
              </a:rPr>
              <a:t>AFTERNOON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8915400" y="536752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1E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$204,721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8229600" y="5852160"/>
            <a:ext cx="3383280" cy="640080"/>
          </a:xfrm>
          <a:prstGeom prst="rect">
            <a:avLst/>
          </a:prstGeom>
          <a:solidFill>
            <a:srgbClr val="E8D9C2"/>
          </a:solidFill>
          <a:ln w="12700">
            <a:solidFill>
              <a:srgbClr val="E8D9C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321040" y="5943600"/>
            <a:ext cx="457200" cy="457200"/>
          </a:xfrm>
          <a:prstGeom prst="ellipse">
            <a:avLst/>
          </a:prstGeom>
          <a:solidFill>
            <a:srgbClr val="6B4A33"/>
          </a:solidFill>
          <a:ln w="12700">
            <a:solidFill>
              <a:srgbClr val="6B4A3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915400" y="5943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4A33"/>
                </a:solidFill>
              </a:rPr>
              <a:t>EVENING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8915400" y="61447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1E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$105,803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28016" cy="128016"/>
          </a:xfrm>
          <a:prstGeom prst="ellipse">
            <a:avLst/>
          </a:prstGeom>
          <a:solidFill>
            <a:srgbClr val="C8842B"/>
          </a:solidFill>
          <a:ln w="12700">
            <a:solidFill>
              <a:srgbClr val="C884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9260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4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Bright Coffee</a:t>
            </a:r>
            <a:pPr indent="0" marL="0">
              <a:buNone/>
            </a:pPr>
            <a:r>
              <a:rPr lang="en-US" sz="1200" dirty="0">
                <a:solidFill>
                  <a:srgbClr val="6B4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900" spc="400" kern="0" dirty="0">
                <a:solidFill>
                  <a:srgbClr val="6B4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ANALYSIS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0" y="292608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6B4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TIME OF DAY</a:t>
            </a:r>
            <a:pPr algn="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    </a:t>
            </a:r>
            <a:pPr algn="r" indent="0" marL="0">
              <a:buNone/>
            </a:pPr>
            <a:r>
              <a:rPr lang="en-US" sz="900" dirty="0">
                <a:solidFill>
                  <a:srgbClr val="6B4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21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77240" y="1252728"/>
            <a:ext cx="274320" cy="18288"/>
          </a:xfrm>
          <a:prstGeom prst="rect">
            <a:avLst/>
          </a:prstGeom>
          <a:solidFill>
            <a:srgbClr val="6B4A33"/>
          </a:solidFill>
          <a:ln w="12700">
            <a:solidFill>
              <a:srgbClr val="6B4A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1887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B4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× TIME INTERVALS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1508760"/>
            <a:ext cx="6400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2D1E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Mornings make
</a:t>
            </a:r>
            <a:pPr indent="0" marL="0">
              <a:buNone/>
            </a:pPr>
            <a:r>
              <a:rPr lang="en-US" sz="4000" i="1" dirty="0">
                <a:solidFill>
                  <a:srgbClr val="C88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money.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315200" y="1691640"/>
            <a:ext cx="4297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4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is the most profitable bucket — generating $388,288 vs $204,720 in the afternoon. Coffee and bakery dominate the early window.</a:t>
            </a:r>
            <a:endParaRPr lang="en-US" sz="11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777240" y="3108960"/>
          <a:ext cx="108356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EB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28016" cy="128016"/>
          </a:xfrm>
          <a:prstGeom prst="ellipse">
            <a:avLst/>
          </a:prstGeom>
          <a:solidFill>
            <a:srgbClr val="C8842B"/>
          </a:solidFill>
          <a:ln w="12700">
            <a:solidFill>
              <a:srgbClr val="C884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9260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4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Bright Coffee</a:t>
            </a:r>
            <a:pPr indent="0" marL="0">
              <a:buNone/>
            </a:pPr>
            <a:r>
              <a:rPr lang="en-US" sz="1200" dirty="0">
                <a:solidFill>
                  <a:srgbClr val="6B4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900" spc="400" kern="0" dirty="0">
                <a:solidFill>
                  <a:srgbClr val="6B4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ANALYSIS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0" y="292608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6B4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LOCATIONS</a:t>
            </a:r>
            <a:pPr algn="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    </a:t>
            </a:r>
            <a:pPr algn="r" indent="0" marL="0">
              <a:buNone/>
            </a:pPr>
            <a:r>
              <a:rPr lang="en-US" sz="900" dirty="0">
                <a:solidFill>
                  <a:srgbClr val="6B4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21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77240" y="1252728"/>
            <a:ext cx="274320" cy="18288"/>
          </a:xfrm>
          <a:prstGeom prst="rect">
            <a:avLst/>
          </a:prstGeom>
          <a:solidFill>
            <a:srgbClr val="6B4A33"/>
          </a:solidFill>
          <a:ln w="12700">
            <a:solidFill>
              <a:srgbClr val="6B4A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1887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B4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REVENUE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155448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2D1E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stores,
</a:t>
            </a:r>
            <a:pPr indent="0" marL="0">
              <a:buNone/>
            </a:pPr>
            <a:r>
              <a:rPr lang="en-US" sz="4400" i="1" dirty="0">
                <a:solidFill>
                  <a:srgbClr val="C88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nearly even.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777240" y="356616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B4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split shows the percent contribution of each location. Hell's Kitchen edges ahead by a small but consistent margin.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" y="4846320"/>
            <a:ext cx="4572000" cy="457200"/>
          </a:xfrm>
          <a:prstGeom prst="rect">
            <a:avLst/>
          </a:prstGeom>
          <a:solidFill>
            <a:srgbClr val="FAF3E7"/>
          </a:solidFill>
          <a:ln w="5080">
            <a:solidFill>
              <a:srgbClr val="C9B79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4965192"/>
            <a:ext cx="228600" cy="228600"/>
          </a:xfrm>
          <a:prstGeom prst="rect">
            <a:avLst/>
          </a:prstGeom>
          <a:solidFill>
            <a:srgbClr val="2D1E14"/>
          </a:solidFill>
          <a:ln w="12700">
            <a:solidFill>
              <a:srgbClr val="2D1E1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48463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1E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Astoria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00400" y="48463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2D1E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33.2%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114800" y="48463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4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$232,244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77240" y="5394960"/>
            <a:ext cx="4572000" cy="457200"/>
          </a:xfrm>
          <a:prstGeom prst="rect">
            <a:avLst/>
          </a:prstGeom>
          <a:solidFill>
            <a:srgbClr val="FAF3E7"/>
          </a:solidFill>
          <a:ln w="5080">
            <a:solidFill>
              <a:srgbClr val="C9B79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5513832"/>
            <a:ext cx="228600" cy="228600"/>
          </a:xfrm>
          <a:prstGeom prst="rect">
            <a:avLst/>
          </a:prstGeom>
          <a:solidFill>
            <a:srgbClr val="C8842B"/>
          </a:solidFill>
          <a:ln w="12700">
            <a:solidFill>
              <a:srgbClr val="C884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53949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1E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Hell's Kitchen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00400" y="53949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2D1E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33.8%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0" y="53949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4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$236,511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77240" y="5943600"/>
            <a:ext cx="4572000" cy="457200"/>
          </a:xfrm>
          <a:prstGeom prst="rect">
            <a:avLst/>
          </a:prstGeom>
          <a:solidFill>
            <a:srgbClr val="FAF3E7"/>
          </a:solidFill>
          <a:ln w="5080">
            <a:solidFill>
              <a:srgbClr val="C9B79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6062472"/>
            <a:ext cx="228600" cy="228600"/>
          </a:xfrm>
          <a:prstGeom prst="rect">
            <a:avLst/>
          </a:prstGeom>
          <a:solidFill>
            <a:srgbClr val="B05A47"/>
          </a:solidFill>
          <a:ln w="12700">
            <a:solidFill>
              <a:srgbClr val="B05A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88720" y="59436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1E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Lower Manhattan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200400" y="59436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2D1E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32.9%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114800" y="59436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4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$230,057</a:t>
            </a:r>
            <a:endParaRPr lang="en-US" sz="90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5943600" y="1188720"/>
          <a:ext cx="5669280" cy="5394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Text 22"/>
          <p:cNvSpPr/>
          <p:nvPr/>
        </p:nvSpPr>
        <p:spPr>
          <a:xfrm>
            <a:off x="7772400" y="356616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2D1E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$699k</a:t>
            </a:r>
            <a:endParaRPr lang="en-US" sz="3600" dirty="0"/>
          </a:p>
        </p:txBody>
      </p:sp>
      <p:sp>
        <p:nvSpPr>
          <p:cNvPr id="26" name="Text 23"/>
          <p:cNvSpPr/>
          <p:nvPr/>
        </p:nvSpPr>
        <p:spPr>
          <a:xfrm>
            <a:off x="7772400" y="4297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300" kern="0" dirty="0">
                <a:solidFill>
                  <a:srgbClr val="6B4A33"/>
                </a:solidFill>
              </a:rPr>
              <a:t>TOTAL · 3 LOCATIONS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D1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8842B"/>
          </a:solidFill>
          <a:ln w="12700">
            <a:solidFill>
              <a:srgbClr val="C884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411480"/>
            <a:ext cx="128016" cy="128016"/>
          </a:xfrm>
          <a:prstGeom prst="ellipse">
            <a:avLst/>
          </a:prstGeom>
          <a:solidFill>
            <a:srgbClr val="C8842B"/>
          </a:solidFill>
          <a:ln w="12700">
            <a:solidFill>
              <a:srgbClr val="C884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29260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5EB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Bright Coffee</a:t>
            </a:r>
            <a:pPr indent="0" marL="0">
              <a:buNone/>
            </a:pPr>
            <a:r>
              <a:rPr lang="en-US" sz="1200" dirty="0">
                <a:solidFill>
                  <a:srgbClr val="F5E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900" spc="400" kern="0" dirty="0">
                <a:solidFill>
                  <a:srgbClr val="F5E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ANALYSIS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0" y="292608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F5E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PRODUCTS</a:t>
            </a:r>
            <a:pPr algn="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    </a:t>
            </a:r>
            <a:pPr algn="r" indent="0" marL="0">
              <a:buNone/>
            </a:pPr>
            <a:r>
              <a:rPr lang="en-US" sz="900" dirty="0">
                <a:solidFill>
                  <a:srgbClr val="F5EB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21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77240" y="1252728"/>
            <a:ext cx="274320" cy="18288"/>
          </a:xfrm>
          <a:prstGeom prst="rect">
            <a:avLst/>
          </a:prstGeom>
          <a:solidFill>
            <a:srgbClr val="C8842B"/>
          </a:solidFill>
          <a:ln w="12700">
            <a:solidFill>
              <a:srgbClr val="C884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1887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C88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HERO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1554480"/>
            <a:ext cx="10058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6000"/>
              </a:lnSpc>
              <a:buNone/>
            </a:pPr>
            <a:r>
              <a:rPr lang="en-US" sz="5600" dirty="0">
                <a:solidFill>
                  <a:srgbClr val="F5EB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Sustainably Grown
</a:t>
            </a:r>
            <a:pPr indent="0" marL="0">
              <a:lnSpc>
                <a:spcPts val="6000"/>
              </a:lnSpc>
              <a:buNone/>
            </a:pPr>
            <a:r>
              <a:rPr lang="en-US" sz="5600" i="1" dirty="0">
                <a:solidFill>
                  <a:srgbClr val="E89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Organic, Large.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777240" y="3566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EBDC"/>
                </a:solidFill>
              </a:rPr>
              <a:t>Drinking Chocolate · Hot Chocolate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42062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C88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$21,151</a:t>
            </a:r>
            <a:endParaRPr lang="en-US" sz="4800" dirty="0"/>
          </a:p>
        </p:txBody>
      </p:sp>
      <p:sp>
        <p:nvSpPr>
          <p:cNvPr id="11" name="Shape 9"/>
          <p:cNvSpPr/>
          <p:nvPr/>
        </p:nvSpPr>
        <p:spPr>
          <a:xfrm>
            <a:off x="777240" y="5120640"/>
            <a:ext cx="365760" cy="0"/>
          </a:xfrm>
          <a:prstGeom prst="line">
            <a:avLst/>
          </a:prstGeom>
          <a:noFill/>
          <a:ln w="12700">
            <a:solidFill>
              <a:srgbClr val="C884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52120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F5EBDC"/>
                </a:solidFill>
              </a:rPr>
              <a:t>TOTAL REVENUE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520440" y="42062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F5EB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4,453</a:t>
            </a:r>
            <a:endParaRPr lang="en-US" sz="4800" dirty="0"/>
          </a:p>
        </p:txBody>
      </p:sp>
      <p:sp>
        <p:nvSpPr>
          <p:cNvPr id="14" name="Shape 12"/>
          <p:cNvSpPr/>
          <p:nvPr/>
        </p:nvSpPr>
        <p:spPr>
          <a:xfrm>
            <a:off x="3520440" y="5120640"/>
            <a:ext cx="365760" cy="0"/>
          </a:xfrm>
          <a:prstGeom prst="line">
            <a:avLst/>
          </a:prstGeom>
          <a:noFill/>
          <a:ln w="12700">
            <a:solidFill>
              <a:srgbClr val="C884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0440" y="52120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F5EBDC"/>
                </a:solidFill>
              </a:rPr>
              <a:t>UNITS SOLD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263640" y="42062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C88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#1</a:t>
            </a:r>
            <a:endParaRPr lang="en-US" sz="4800" dirty="0"/>
          </a:p>
        </p:txBody>
      </p:sp>
      <p:sp>
        <p:nvSpPr>
          <p:cNvPr id="17" name="Shape 15"/>
          <p:cNvSpPr/>
          <p:nvPr/>
        </p:nvSpPr>
        <p:spPr>
          <a:xfrm>
            <a:off x="6263640" y="5120640"/>
            <a:ext cx="365760" cy="0"/>
          </a:xfrm>
          <a:prstGeom prst="line">
            <a:avLst/>
          </a:prstGeom>
          <a:noFill/>
          <a:ln w="12700">
            <a:solidFill>
              <a:srgbClr val="C884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52120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F5EBDC"/>
                </a:solidFill>
              </a:rPr>
              <a:t>OF ALL PRODUCTS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77240" y="57607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E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top-performing product across the entire catalogue — a drinking chocolate that punched well above its category weight, outperforming every coffee SKU on the menu.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28016" cy="128016"/>
          </a:xfrm>
          <a:prstGeom prst="ellipse">
            <a:avLst/>
          </a:prstGeom>
          <a:solidFill>
            <a:srgbClr val="C8842B"/>
          </a:solidFill>
          <a:ln w="12700">
            <a:solidFill>
              <a:srgbClr val="C884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9260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4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Bright Coffee</a:t>
            </a:r>
            <a:pPr indent="0" marL="0">
              <a:buNone/>
            </a:pPr>
            <a:r>
              <a:rPr lang="en-US" sz="1200" dirty="0">
                <a:solidFill>
                  <a:srgbClr val="6B4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900" spc="400" kern="0" dirty="0">
                <a:solidFill>
                  <a:srgbClr val="6B4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ANALYSIS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0" y="292608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6B4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PRODUCTS</a:t>
            </a:r>
            <a:pPr algn="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    </a:t>
            </a:r>
            <a:pPr algn="r" indent="0" marL="0">
              <a:buNone/>
            </a:pPr>
            <a:r>
              <a:rPr lang="en-US" sz="900" dirty="0">
                <a:solidFill>
                  <a:srgbClr val="6B4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21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77240" y="1252728"/>
            <a:ext cx="274320" cy="18288"/>
          </a:xfrm>
          <a:prstGeom prst="rect">
            <a:avLst/>
          </a:prstGeom>
          <a:solidFill>
            <a:srgbClr val="6B4A33"/>
          </a:solidFill>
          <a:ln w="12700">
            <a:solidFill>
              <a:srgbClr val="6B4A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1887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B4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LAGGARD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1554480"/>
            <a:ext cx="6400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5200" dirty="0">
                <a:solidFill>
                  <a:srgbClr val="2D1E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Dark Chocolate
</a:t>
            </a:r>
            <a:pPr indent="0" marL="0">
              <a:lnSpc>
                <a:spcPts val="5600"/>
              </a:lnSpc>
              <a:buNone/>
            </a:pPr>
            <a:r>
              <a:rPr lang="en-US" sz="5200" i="1" dirty="0">
                <a:solidFill>
                  <a:srgbClr val="C88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Packaged.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777240" y="35204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4A33"/>
                </a:solidFill>
              </a:rPr>
              <a:t>Packaged Chocolate · Drinking Chocolate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411480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2D1E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$4,722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777240" y="49377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4A33"/>
                </a:solidFill>
              </a:rPr>
              <a:t>TOTAL REVENUE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971800" y="411480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2D1E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118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2971800" y="49377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4A33"/>
                </a:solidFill>
              </a:rPr>
              <a:t>UNITS SOLD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66360" y="411480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C88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↓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5166360" y="49377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4A33"/>
                </a:solidFill>
              </a:rPr>
              <a:t>BOTTOM PERFORMER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77240" y="539496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D1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lowest-performing SKU on the menu — paradoxically the packaged form of our top-selling drink. Awareness, placement and pricing all warrant immediate review.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680960" y="1371600"/>
            <a:ext cx="3931920" cy="5212080"/>
          </a:xfrm>
          <a:prstGeom prst="rect">
            <a:avLst/>
          </a:prstGeom>
          <a:solidFill>
            <a:srgbClr val="2D1E14"/>
          </a:solidFill>
          <a:ln w="12700">
            <a:solidFill>
              <a:srgbClr val="2D1E1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0" y="1554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C8842B"/>
                </a:solidFill>
              </a:rPr>
              <a:t>REVENUE SPREAD BY STORE</a:t>
            </a:r>
            <a:endParaRPr lang="en-US" sz="9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7772400" y="1920240"/>
          <a:ext cx="37490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Text 16"/>
          <p:cNvSpPr/>
          <p:nvPr/>
        </p:nvSpPr>
        <p:spPr>
          <a:xfrm>
            <a:off x="7863840" y="521208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E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our weakest product moves consistently across all three locations — the issue is volume, not geography.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28016" cy="128016"/>
          </a:xfrm>
          <a:prstGeom prst="ellipse">
            <a:avLst/>
          </a:prstGeom>
          <a:solidFill>
            <a:srgbClr val="C8842B"/>
          </a:solidFill>
          <a:ln w="12700">
            <a:solidFill>
              <a:srgbClr val="C884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9260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4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Bright Coffee</a:t>
            </a:r>
            <a:pPr indent="0" marL="0">
              <a:buNone/>
            </a:pPr>
            <a:r>
              <a:rPr lang="en-US" sz="1200" dirty="0">
                <a:solidFill>
                  <a:srgbClr val="6B4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900" spc="400" kern="0" dirty="0">
                <a:solidFill>
                  <a:srgbClr val="6B4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ANALYSIS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0" y="292608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6B4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CATEGORIES</a:t>
            </a:r>
            <a:pPr algn="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    </a:t>
            </a:r>
            <a:pPr algn="r" indent="0" marL="0">
              <a:buNone/>
            </a:pPr>
            <a:r>
              <a:rPr lang="en-US" sz="900" dirty="0">
                <a:solidFill>
                  <a:srgbClr val="6B4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21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77240" y="1252728"/>
            <a:ext cx="274320" cy="18288"/>
          </a:xfrm>
          <a:prstGeom prst="rect">
            <a:avLst/>
          </a:prstGeom>
          <a:solidFill>
            <a:srgbClr val="6B4A33"/>
          </a:solidFill>
          <a:ln w="12700">
            <a:solidFill>
              <a:srgbClr val="6B4A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1887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B4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CATEGORY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1554480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2D1E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Coffee leads,
</a:t>
            </a:r>
            <a:pPr indent="0" marL="0">
              <a:buNone/>
            </a:pPr>
            <a:r>
              <a:rPr lang="en-US" sz="4000" i="1" dirty="0">
                <a:solidFill>
                  <a:srgbClr val="C88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 follows.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77240" y="338328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4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and Tea are the structural revenue pillars. Bakery and Drinking Chocolate form the secondary tier. Branded merchandise represents the long tail.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51206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88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$270.0k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240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4A33"/>
                </a:solidFill>
              </a:rPr>
              <a:t>COFFEE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606040" y="51206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D1E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$196.4k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606040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4A33"/>
                </a:solidFill>
              </a:rPr>
              <a:t>TEA</a:t>
            </a:r>
            <a:endParaRPr lang="en-US" sz="8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4754880" y="1188720"/>
          <a:ext cx="6858000" cy="5394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28016" cy="128016"/>
          </a:xfrm>
          <a:prstGeom prst="ellipse">
            <a:avLst/>
          </a:prstGeom>
          <a:solidFill>
            <a:srgbClr val="C8842B"/>
          </a:solidFill>
          <a:ln w="12700">
            <a:solidFill>
              <a:srgbClr val="C884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9260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4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Bright Coffee</a:t>
            </a:r>
            <a:pPr indent="0" marL="0">
              <a:buNone/>
            </a:pPr>
            <a:r>
              <a:rPr lang="en-US" sz="1200" dirty="0">
                <a:solidFill>
                  <a:srgbClr val="6B4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900" spc="400" kern="0" dirty="0">
                <a:solidFill>
                  <a:srgbClr val="6B4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ANALYSIS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0" y="292608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6B4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PRODUCTS</a:t>
            </a:r>
            <a:pPr algn="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    </a:t>
            </a:r>
            <a:pPr algn="r" indent="0" marL="0">
              <a:buNone/>
            </a:pPr>
            <a:r>
              <a:rPr lang="en-US" sz="900" dirty="0">
                <a:solidFill>
                  <a:srgbClr val="6B4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21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955280" y="1252728"/>
            <a:ext cx="274320" cy="18288"/>
          </a:xfrm>
          <a:prstGeom prst="rect">
            <a:avLst/>
          </a:prstGeom>
          <a:solidFill>
            <a:srgbClr val="6B4A33"/>
          </a:solidFill>
          <a:ln w="12700">
            <a:solidFill>
              <a:srgbClr val="6B4A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0" y="11887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B4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BESTSELLERS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955280" y="1508760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D1E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hits that
</a:t>
            </a:r>
            <a:pPr indent="0" marL="0">
              <a:buNone/>
            </a:pPr>
            <a:r>
              <a:rPr lang="en-US" sz="3200" i="1" dirty="0">
                <a:solidFill>
                  <a:srgbClr val="C88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drive volume.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955280" y="338328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4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beverages dominate — Dark Chocolate (Lg), Sustainably Organic (Lg), Latte (Rg), and Morning Sunrise Chai (Lg) lead the pack.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955280" y="4937760"/>
            <a:ext cx="3657600" cy="1645920"/>
          </a:xfrm>
          <a:prstGeom prst="rect">
            <a:avLst/>
          </a:prstGeom>
          <a:solidFill>
            <a:srgbClr val="2D1E14"/>
          </a:solidFill>
          <a:ln w="12700">
            <a:solidFill>
              <a:srgbClr val="2D1E1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38160" y="512064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EB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"Large" formats convert better than regular at premium price points — a clear merchandising signal.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1188720"/>
            <a:ext cx="6949440" cy="5394960"/>
          </a:xfrm>
          <a:prstGeom prst="rect">
            <a:avLst/>
          </a:prstGeom>
          <a:solidFill>
            <a:srgbClr val="F5EBDC"/>
          </a:solidFill>
          <a:ln w="6350">
            <a:solidFill>
              <a:srgbClr val="C9B79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13258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1E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eight products by revenue</a:t>
            </a:r>
            <a:endParaRPr lang="en-US" sz="14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914400" y="1828800"/>
          <a:ext cx="667512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D1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28016" cy="128016"/>
          </a:xfrm>
          <a:prstGeom prst="ellipse">
            <a:avLst/>
          </a:prstGeom>
          <a:solidFill>
            <a:srgbClr val="C8842B"/>
          </a:solidFill>
          <a:ln w="12700">
            <a:solidFill>
              <a:srgbClr val="C884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9260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5EB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Bright Coffee</a:t>
            </a:r>
            <a:pPr indent="0" marL="0">
              <a:buNone/>
            </a:pPr>
            <a:r>
              <a:rPr lang="en-US" sz="1200" dirty="0">
                <a:solidFill>
                  <a:srgbClr val="F5E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900" spc="400" kern="0" dirty="0">
                <a:solidFill>
                  <a:srgbClr val="F5E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ANALYSIS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0" y="292608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F5E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TREND</a:t>
            </a:r>
            <a:pPr algn="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    </a:t>
            </a:r>
            <a:pPr algn="r" indent="0" marL="0">
              <a:buNone/>
            </a:pPr>
            <a:r>
              <a:rPr lang="en-US" sz="900" dirty="0">
                <a:solidFill>
                  <a:srgbClr val="F5EB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21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77240" y="1252728"/>
            <a:ext cx="274320" cy="18288"/>
          </a:xfrm>
          <a:prstGeom prst="rect">
            <a:avLst/>
          </a:prstGeom>
          <a:solidFill>
            <a:srgbClr val="C8842B"/>
          </a:solidFill>
          <a:ln w="12700">
            <a:solidFill>
              <a:srgbClr val="C884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1887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C88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TREND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155448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5EB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
</a:t>
            </a:r>
            <a:pPr indent="0" marL="0">
              <a:buNone/>
            </a:pPr>
            <a:r>
              <a:rPr lang="en-US" sz="4400" i="1" dirty="0">
                <a:solidFill>
                  <a:srgbClr val="E89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doubled.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777240" y="356616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5E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$81.7k in January to $166.5k in June — a 104% climb across the half. Steep and accelerating, not merely seasonal.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52120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E89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+104%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777240" y="5852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F5EBDC"/>
                </a:solidFill>
              </a:rPr>
              <a:t>JAN → JUN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606040" y="52120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5EB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$166k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606040" y="5852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F5EBDC"/>
                </a:solidFill>
              </a:rPr>
              <a:t>JUNE PEAK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754880" y="1188720"/>
            <a:ext cx="6858000" cy="5394960"/>
          </a:xfrm>
          <a:prstGeom prst="rect">
            <a:avLst/>
          </a:prstGeom>
          <a:solidFill>
            <a:srgbClr val="3E2A1C"/>
          </a:solidFill>
          <a:ln w="6350">
            <a:solidFill>
              <a:srgbClr val="6B4A33"/>
            </a:solidFill>
            <a:prstDash val="solid"/>
          </a:ln>
        </p:spPr>
      </p:sp>
      <p:graphicFrame>
        <p:nvGraphicFramePr>
          <p:cNvPr id="14" name="Chart 0" descr=""/>
          <p:cNvGraphicFramePr/>
          <p:nvPr/>
        </p:nvGraphicFramePr>
        <p:xfrm>
          <a:off x="4937760" y="1463040"/>
          <a:ext cx="649224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D1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8842B"/>
          </a:solidFill>
          <a:ln w="12700">
            <a:solidFill>
              <a:srgbClr val="C884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502920"/>
            <a:ext cx="146304" cy="146304"/>
          </a:xfrm>
          <a:prstGeom prst="ellipse">
            <a:avLst/>
          </a:prstGeom>
          <a:solidFill>
            <a:srgbClr val="C8842B"/>
          </a:solidFill>
          <a:ln w="12700">
            <a:solidFill>
              <a:srgbClr val="C884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F5EBDC"/>
                </a:solidFill>
              </a:rPr>
              <a:t>PART TWO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" y="22860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E89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insight to action.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77240" y="2743200"/>
            <a:ext cx="109728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200"/>
              </a:lnSpc>
              <a:buNone/>
            </a:pPr>
            <a:r>
              <a:rPr lang="en-US" sz="8800" dirty="0">
                <a:solidFill>
                  <a:srgbClr val="F5EB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Strategy &amp;
</a:t>
            </a:r>
            <a:pPr indent="0" marL="0">
              <a:lnSpc>
                <a:spcPts val="9200"/>
              </a:lnSpc>
              <a:buNone/>
            </a:pPr>
            <a:r>
              <a:rPr lang="en-US" sz="8800" i="1" dirty="0">
                <a:solidFill>
                  <a:srgbClr val="E89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Recommendations</a:t>
            </a:r>
            <a:endParaRPr lang="en-US" sz="8800" dirty="0"/>
          </a:p>
        </p:txBody>
      </p:sp>
      <p:sp>
        <p:nvSpPr>
          <p:cNvPr id="7" name="Shape 5"/>
          <p:cNvSpPr/>
          <p:nvPr/>
        </p:nvSpPr>
        <p:spPr>
          <a:xfrm>
            <a:off x="777240" y="5852160"/>
            <a:ext cx="2011680" cy="0"/>
          </a:xfrm>
          <a:prstGeom prst="line">
            <a:avLst/>
          </a:prstGeom>
          <a:noFill/>
          <a:ln w="12700">
            <a:solidFill>
              <a:srgbClr val="C884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5989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E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plays designed to compound on what's working — and convert friction into the next leg of growth.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28016" cy="128016"/>
          </a:xfrm>
          <a:prstGeom prst="ellipse">
            <a:avLst/>
          </a:prstGeom>
          <a:solidFill>
            <a:srgbClr val="C8842B"/>
          </a:solidFill>
          <a:ln w="12700">
            <a:solidFill>
              <a:srgbClr val="C884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9260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4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Bright Coffee</a:t>
            </a:r>
            <a:pPr indent="0" marL="0">
              <a:buNone/>
            </a:pPr>
            <a:r>
              <a:rPr lang="en-US" sz="1200" dirty="0">
                <a:solidFill>
                  <a:srgbClr val="6B4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900" spc="400" kern="0" dirty="0">
                <a:solidFill>
                  <a:srgbClr val="6B4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ANALYSIS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0" y="292608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6B4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STRATEGY</a:t>
            </a:r>
            <a:pPr algn="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    </a:t>
            </a:r>
            <a:pPr algn="r" indent="0" marL="0">
              <a:buNone/>
            </a:pPr>
            <a:r>
              <a:rPr lang="en-US" sz="900" dirty="0">
                <a:solidFill>
                  <a:srgbClr val="6B4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/ 21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77240" y="1252728"/>
            <a:ext cx="274320" cy="18288"/>
          </a:xfrm>
          <a:prstGeom prst="rect">
            <a:avLst/>
          </a:prstGeom>
          <a:solidFill>
            <a:srgbClr val="6B4A33"/>
          </a:solidFill>
          <a:ln w="12700">
            <a:solidFill>
              <a:srgbClr val="6B4A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1887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B4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PLAYS 01 &amp; 02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15544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2D1E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Drive revenue. </a:t>
            </a:r>
            <a:pPr indent="0" marL="0">
              <a:buNone/>
            </a:pPr>
            <a:r>
              <a:rPr lang="en-US" sz="4000" i="1" dirty="0">
                <a:solidFill>
                  <a:srgbClr val="C88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ways.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777240" y="2651760"/>
            <a:ext cx="5349240" cy="3931920"/>
          </a:xfrm>
          <a:prstGeom prst="rect">
            <a:avLst/>
          </a:prstGeom>
          <a:solidFill>
            <a:srgbClr val="F5EBDC"/>
          </a:solidFill>
          <a:ln w="6350">
            <a:solidFill>
              <a:srgbClr val="C9B79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7432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i="1" dirty="0">
                <a:solidFill>
                  <a:srgbClr val="C88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5600" dirty="0"/>
          </a:p>
        </p:txBody>
      </p:sp>
      <p:sp>
        <p:nvSpPr>
          <p:cNvPr id="10" name="Shape 8"/>
          <p:cNvSpPr/>
          <p:nvPr/>
        </p:nvSpPr>
        <p:spPr>
          <a:xfrm>
            <a:off x="5303520" y="2834640"/>
            <a:ext cx="594360" cy="594360"/>
          </a:xfrm>
          <a:prstGeom prst="ellipse">
            <a:avLst/>
          </a:prstGeom>
          <a:solidFill>
            <a:srgbClr val="2D1E14"/>
          </a:solidFill>
          <a:ln w="12700">
            <a:solidFill>
              <a:srgbClr val="2D1E1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36118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1E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Optimise peak-hour revenue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51560" y="406908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C8842B"/>
                </a:solidFill>
              </a:rPr>
              <a:t>MORNINGS DRIVE 50% OF DAILY SALES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051560" y="434340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1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Reengineer morning operations to maximise throughput, speed and volume. Redesign staffing, barista workflows and counter layouts to reduce service time per customer.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51560" y="557784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◆"/>
            </a:pPr>
            <a:r>
              <a:rPr lang="en-US" sz="1000" dirty="0">
                <a:solidFill>
                  <a:srgbClr val="6B4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Pre-batch high-volume drinks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◆"/>
            </a:pPr>
            <a:r>
              <a:rPr lang="en-US" sz="1000" dirty="0">
                <a:solidFill>
                  <a:srgbClr val="6B4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order pick-up lane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◆"/>
            </a:pPr>
            <a:r>
              <a:rPr lang="en-US" sz="1000" dirty="0">
                <a:solidFill>
                  <a:srgbClr val="6B4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6 – 8 AM commuter bundle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309360" y="2651760"/>
            <a:ext cx="5349240" cy="3931920"/>
          </a:xfrm>
          <a:prstGeom prst="rect">
            <a:avLst/>
          </a:prstGeom>
          <a:solidFill>
            <a:srgbClr val="F5EBDC"/>
          </a:solidFill>
          <a:ln w="6350">
            <a:solidFill>
              <a:srgbClr val="C9B79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27432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i="1" dirty="0">
                <a:solidFill>
                  <a:srgbClr val="C88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5600" dirty="0"/>
          </a:p>
        </p:txBody>
      </p:sp>
      <p:sp>
        <p:nvSpPr>
          <p:cNvPr id="17" name="Shape 15"/>
          <p:cNvSpPr/>
          <p:nvPr/>
        </p:nvSpPr>
        <p:spPr>
          <a:xfrm>
            <a:off x="10835640" y="2834640"/>
            <a:ext cx="594360" cy="594360"/>
          </a:xfrm>
          <a:prstGeom prst="ellipse">
            <a:avLst/>
          </a:prstGeom>
          <a:solidFill>
            <a:srgbClr val="2D1E14"/>
          </a:solidFill>
          <a:ln w="12700">
            <a:solidFill>
              <a:srgbClr val="2D1E1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36118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1E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pricing &amp; hype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583680" y="406908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C8842B"/>
                </a:solidFill>
              </a:rPr>
              <a:t>UNLOCK EMERGING PRODUCTS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583680" y="434340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1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Temporary introductory pricing — half-price or bundle offers — to build awareness and trial. Promote low-performing products aggressively at point of sale.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583680" y="557784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◆"/>
            </a:pPr>
            <a:r>
              <a:rPr lang="en-US" sz="1000" dirty="0">
                <a:solidFill>
                  <a:srgbClr val="6B4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Limited-time bundle offers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◆"/>
            </a:pPr>
            <a:r>
              <a:rPr lang="en-US" sz="1000" dirty="0">
                <a:solidFill>
                  <a:srgbClr val="6B4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upsell prompts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◆"/>
            </a:pPr>
            <a:r>
              <a:rPr lang="en-US" sz="1000" dirty="0">
                <a:solidFill>
                  <a:srgbClr val="6B4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 pricing as demand stabilises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28016" cy="128016"/>
          </a:xfrm>
          <a:prstGeom prst="ellipse">
            <a:avLst/>
          </a:prstGeom>
          <a:solidFill>
            <a:srgbClr val="C8842B"/>
          </a:solidFill>
          <a:ln w="12700">
            <a:solidFill>
              <a:srgbClr val="C884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9260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4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Bright Coffee</a:t>
            </a:r>
            <a:pPr indent="0" marL="0">
              <a:buNone/>
            </a:pPr>
            <a:r>
              <a:rPr lang="en-US" sz="1200" dirty="0">
                <a:solidFill>
                  <a:srgbClr val="6B4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900" spc="400" kern="0" dirty="0">
                <a:solidFill>
                  <a:srgbClr val="6B4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ANALYSIS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0" y="292608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6B4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STRATEGY</a:t>
            </a:r>
            <a:pPr algn="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    </a:t>
            </a:r>
            <a:pPr algn="r" indent="0" marL="0">
              <a:buNone/>
            </a:pPr>
            <a:r>
              <a:rPr lang="en-US" sz="900" dirty="0">
                <a:solidFill>
                  <a:srgbClr val="6B4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/ 21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77240" y="1252728"/>
            <a:ext cx="274320" cy="18288"/>
          </a:xfrm>
          <a:prstGeom prst="rect">
            <a:avLst/>
          </a:prstGeom>
          <a:solidFill>
            <a:srgbClr val="6B4A33"/>
          </a:solidFill>
          <a:ln w="12700">
            <a:solidFill>
              <a:srgbClr val="6B4A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1887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B4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PLAYS 03 &amp; 04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15544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2D1E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Reposition. </a:t>
            </a:r>
            <a:pPr indent="0" marL="0">
              <a:buNone/>
            </a:pPr>
            <a:r>
              <a:rPr lang="en-US" sz="4000" i="1" dirty="0">
                <a:solidFill>
                  <a:srgbClr val="C88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Then reallocate.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777240" y="2651760"/>
            <a:ext cx="5349240" cy="3931920"/>
          </a:xfrm>
          <a:prstGeom prst="rect">
            <a:avLst/>
          </a:prstGeom>
          <a:solidFill>
            <a:srgbClr val="F5EBDC"/>
          </a:solidFill>
          <a:ln w="6350">
            <a:solidFill>
              <a:srgbClr val="C9B79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7432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i="1" dirty="0">
                <a:solidFill>
                  <a:srgbClr val="C88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5600" dirty="0"/>
          </a:p>
        </p:txBody>
      </p:sp>
      <p:sp>
        <p:nvSpPr>
          <p:cNvPr id="10" name="Shape 8"/>
          <p:cNvSpPr/>
          <p:nvPr/>
        </p:nvSpPr>
        <p:spPr>
          <a:xfrm>
            <a:off x="5303520" y="2834640"/>
            <a:ext cx="594360" cy="594360"/>
          </a:xfrm>
          <a:prstGeom prst="ellipse">
            <a:avLst/>
          </a:prstGeom>
          <a:solidFill>
            <a:srgbClr val="2D1E14"/>
          </a:solidFill>
          <a:ln w="12700">
            <a:solidFill>
              <a:srgbClr val="2D1E1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36118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1E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Reposition physical space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51560" y="406908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C8842B"/>
                </a:solidFill>
              </a:rPr>
              <a:t>BEYOND GRAB-AND-GO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051560" y="434340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1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see Bright primarily as a grab-and-go shop. This is a growth opportunity. Redesign sections of each store to support remote work and longer stays.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51560" y="557784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◆"/>
            </a:pPr>
            <a:r>
              <a:rPr lang="en-US" sz="1000" dirty="0">
                <a:solidFill>
                  <a:srgbClr val="6B4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co-working zones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◆"/>
            </a:pPr>
            <a:r>
              <a:rPr lang="en-US" sz="1000" dirty="0">
                <a:solidFill>
                  <a:srgbClr val="6B4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outlets at every seat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◆"/>
            </a:pPr>
            <a:r>
              <a:rPr lang="en-US" sz="1000" dirty="0">
                <a:solidFill>
                  <a:srgbClr val="6B4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afternoon lulls with workspace pricing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309360" y="2651760"/>
            <a:ext cx="5349240" cy="3931920"/>
          </a:xfrm>
          <a:prstGeom prst="rect">
            <a:avLst/>
          </a:prstGeom>
          <a:solidFill>
            <a:srgbClr val="F5EBDC"/>
          </a:solidFill>
          <a:ln w="6350">
            <a:solidFill>
              <a:srgbClr val="C9B79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27432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i="1" dirty="0">
                <a:solidFill>
                  <a:srgbClr val="C88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5600" dirty="0"/>
          </a:p>
        </p:txBody>
      </p:sp>
      <p:sp>
        <p:nvSpPr>
          <p:cNvPr id="17" name="Shape 15"/>
          <p:cNvSpPr/>
          <p:nvPr/>
        </p:nvSpPr>
        <p:spPr>
          <a:xfrm>
            <a:off x="10835640" y="2834640"/>
            <a:ext cx="594360" cy="594360"/>
          </a:xfrm>
          <a:prstGeom prst="ellipse">
            <a:avLst/>
          </a:prstGeom>
          <a:solidFill>
            <a:srgbClr val="2D1E14"/>
          </a:solidFill>
          <a:ln w="12700">
            <a:solidFill>
              <a:srgbClr val="2D1E1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36118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1E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Reallocate operating hours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583680" y="406908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C8842B"/>
                </a:solidFill>
              </a:rPr>
              <a:t>FOLLOW THE DEMAND CURVE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583680" y="434340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1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closing earlier and reallocating resources to earlier opening — capturing more high-value morning demand. Or test evening-specific offerings.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583680" y="557784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◆"/>
            </a:pPr>
            <a:r>
              <a:rPr lang="en-US" sz="1000" dirty="0">
                <a:solidFill>
                  <a:srgbClr val="6B4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5:30 AM commuter opening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◆"/>
            </a:pPr>
            <a:r>
              <a:rPr lang="en-US" sz="1000" dirty="0">
                <a:solidFill>
                  <a:srgbClr val="6B4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 dessert + decaf menu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◆"/>
            </a:pPr>
            <a:r>
              <a:rPr lang="en-US" sz="1000" dirty="0">
                <a:solidFill>
                  <a:srgbClr val="6B4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digital ordering app to gather signal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D1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28016" cy="128016"/>
          </a:xfrm>
          <a:prstGeom prst="ellipse">
            <a:avLst/>
          </a:prstGeom>
          <a:solidFill>
            <a:srgbClr val="C8842B"/>
          </a:solidFill>
          <a:ln w="12700">
            <a:solidFill>
              <a:srgbClr val="C884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9260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5EB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Bright Coffee</a:t>
            </a:r>
            <a:pPr indent="0" marL="0">
              <a:buNone/>
            </a:pPr>
            <a:r>
              <a:rPr lang="en-US" sz="1200" dirty="0">
                <a:solidFill>
                  <a:srgbClr val="F5E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900" spc="400" kern="0" dirty="0">
                <a:solidFill>
                  <a:srgbClr val="F5E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ANALYSIS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0" y="292608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F5E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STRATEGY</a:t>
            </a:r>
            <a:pPr algn="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    </a:t>
            </a:r>
            <a:pPr algn="r" indent="0" marL="0">
              <a:buNone/>
            </a:pPr>
            <a:r>
              <a:rPr lang="en-US" sz="900" dirty="0">
                <a:solidFill>
                  <a:srgbClr val="F5EB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/ 21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77240" y="1252728"/>
            <a:ext cx="274320" cy="18288"/>
          </a:xfrm>
          <a:prstGeom prst="rect">
            <a:avLst/>
          </a:prstGeom>
          <a:solidFill>
            <a:srgbClr val="C8842B"/>
          </a:solidFill>
          <a:ln w="12700">
            <a:solidFill>
              <a:srgbClr val="C884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1887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C88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05 · THE SYSTEM LAYER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1554480"/>
            <a:ext cx="10058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5EB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Automate the reporting
</a:t>
            </a:r>
            <a:pPr indent="0" marL="0">
              <a:buNone/>
            </a:pPr>
            <a:r>
              <a:rPr lang="en-US" sz="4000" i="1" dirty="0">
                <a:solidFill>
                  <a:srgbClr val="E89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stack.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777240" y="3383280"/>
            <a:ext cx="3520440" cy="3200400"/>
          </a:xfrm>
          <a:prstGeom prst="rect">
            <a:avLst/>
          </a:prstGeom>
          <a:solidFill>
            <a:srgbClr val="3E2A1C"/>
          </a:solidFill>
          <a:ln w="6350">
            <a:solidFill>
              <a:srgbClr val="6B4A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3566160"/>
            <a:ext cx="502920" cy="502920"/>
          </a:xfrm>
          <a:prstGeom prst="ellipse">
            <a:avLst/>
          </a:prstGeom>
          <a:solidFill>
            <a:srgbClr val="C8842B"/>
          </a:solidFill>
          <a:ln w="12700">
            <a:solidFill>
              <a:srgbClr val="C884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41605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5EB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 &amp; Inventory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51560" y="461772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C8842B"/>
                </a:solidFill>
              </a:rPr>
              <a:t>NON-NEGOTIABLE FOUNDATION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51560" y="489204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modern café POS providing real-time sales reporting, menu performance, staff reporting, inventory tracking and customer profiles.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51560" y="61722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F5EBDC"/>
                </a:solidFill>
              </a:rPr>
              <a:t>SUGGESTED TOOLS  ·  Toast · Lightspeed · Square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480560" y="3383280"/>
            <a:ext cx="3520440" cy="3200400"/>
          </a:xfrm>
          <a:prstGeom prst="rect">
            <a:avLst/>
          </a:prstGeom>
          <a:solidFill>
            <a:srgbClr val="3E2A1C"/>
          </a:solidFill>
          <a:ln w="6350">
            <a:solidFill>
              <a:srgbClr val="6B4A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3566160"/>
            <a:ext cx="502920" cy="502920"/>
          </a:xfrm>
          <a:prstGeom prst="ellipse">
            <a:avLst/>
          </a:prstGeom>
          <a:solidFill>
            <a:srgbClr val="C8842B"/>
          </a:solidFill>
          <a:ln w="12700">
            <a:solidFill>
              <a:srgbClr val="C884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41605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5EB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 Dashboards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754880" y="461772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C8842B"/>
                </a:solidFill>
              </a:rPr>
              <a:t>APPLES-TO-APPLES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754880" y="489204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POS data into a BI tool and run standardised dashboards comparing each store on the same metrics, in real time.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54880" y="61722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F5EBDC"/>
                </a:solidFill>
              </a:rPr>
              <a:t>SUGGESTED TOOLS  ·  Power BI · Looker · Metabase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183880" y="3383280"/>
            <a:ext cx="3520440" cy="3200400"/>
          </a:xfrm>
          <a:prstGeom prst="rect">
            <a:avLst/>
          </a:prstGeom>
          <a:solidFill>
            <a:srgbClr val="3E2A1C"/>
          </a:solidFill>
          <a:ln w="6350">
            <a:solidFill>
              <a:srgbClr val="6B4A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58200" y="3566160"/>
            <a:ext cx="502920" cy="502920"/>
          </a:xfrm>
          <a:prstGeom prst="ellipse">
            <a:avLst/>
          </a:prstGeom>
          <a:solidFill>
            <a:srgbClr val="C8842B"/>
          </a:solidFill>
          <a:ln w="12700">
            <a:solidFill>
              <a:srgbClr val="C884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58200" y="41605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5EB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Alerting Stack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458200" y="461772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C8842B"/>
                </a:solidFill>
              </a:rPr>
              <a:t>DON'T CHECK REPORTS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458200" y="489204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alerts so you don't have to check reports. Inventory and purchasing automation — stop wasting money on slow sellers.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458200" y="61722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F5EBDC"/>
                </a:solidFill>
              </a:rPr>
              <a:t>SUGGESTED TOOLS  ·  Inventory triggers · Slack alerts · Auto-reorder rules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D1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8842B"/>
          </a:solidFill>
          <a:ln w="12700">
            <a:solidFill>
              <a:srgbClr val="C884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41148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E89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closing reflection.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77240" y="457200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0" i="1" dirty="0">
                <a:solidFill>
                  <a:srgbClr val="E89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Thoughts.</a:t>
            </a:r>
            <a:endParaRPr lang="en-US" sz="13000" dirty="0"/>
          </a:p>
        </p:txBody>
      </p:sp>
      <p:sp>
        <p:nvSpPr>
          <p:cNvPr id="5" name="Shape 3"/>
          <p:cNvSpPr/>
          <p:nvPr/>
        </p:nvSpPr>
        <p:spPr>
          <a:xfrm>
            <a:off x="777240" y="6400800"/>
            <a:ext cx="2011680" cy="0"/>
          </a:xfrm>
          <a:prstGeom prst="line">
            <a:avLst/>
          </a:prstGeom>
          <a:noFill/>
          <a:ln w="12700">
            <a:solidFill>
              <a:srgbClr val="C8842B"/>
            </a:solidFill>
            <a:prstDash val="solid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28016" cy="128016"/>
          </a:xfrm>
          <a:prstGeom prst="ellipse">
            <a:avLst/>
          </a:prstGeom>
          <a:solidFill>
            <a:srgbClr val="C8842B"/>
          </a:solidFill>
          <a:ln w="12700">
            <a:solidFill>
              <a:srgbClr val="C884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9260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4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Bright Coffee</a:t>
            </a:r>
            <a:pPr indent="0" marL="0">
              <a:buNone/>
            </a:pPr>
            <a:r>
              <a:rPr lang="en-US" sz="1200" dirty="0">
                <a:solidFill>
                  <a:srgbClr val="6B4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900" spc="400" kern="0" dirty="0">
                <a:solidFill>
                  <a:srgbClr val="6B4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ANALYSIS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0" y="292608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6B4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pPr algn="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    </a:t>
            </a:r>
            <a:pPr algn="r" indent="0" marL="0">
              <a:buNone/>
            </a:pPr>
            <a:r>
              <a:rPr lang="en-US" sz="900" dirty="0">
                <a:solidFill>
                  <a:srgbClr val="6B4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/ 21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114800" y="1527048"/>
            <a:ext cx="274320" cy="18288"/>
          </a:xfrm>
          <a:prstGeom prst="rect">
            <a:avLst/>
          </a:prstGeom>
          <a:solidFill>
            <a:srgbClr val="6B4A33"/>
          </a:solidFill>
          <a:ln w="12700">
            <a:solidFill>
              <a:srgbClr val="6B4A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480560" y="1463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B4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THEREFORE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371600" y="1920240"/>
            <a:ext cx="94183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600" dirty="0">
                <a:solidFill>
                  <a:srgbClr val="2D1E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true product is </a:t>
            </a:r>
            <a:pPr algn="ctr" indent="0" marL="0">
              <a:lnSpc>
                <a:spcPct val="115000"/>
              </a:lnSpc>
              <a:buNone/>
            </a:pPr>
            <a:r>
              <a:rPr lang="en-US" sz="3600" i="1" dirty="0">
                <a:solidFill>
                  <a:srgbClr val="C88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coffee itself</a:t>
            </a:r>
            <a:pPr algn="ctr" indent="0" marL="0">
              <a:lnSpc>
                <a:spcPct val="115000"/>
              </a:lnSpc>
              <a:buNone/>
            </a:pPr>
            <a:r>
              <a:rPr lang="en-US" sz="3600" dirty="0">
                <a:solidFill>
                  <a:srgbClr val="2D1E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but speed, efficiency, and excellence in service.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371600" y="438912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4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the real value drivers in a coffee business.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484632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D1E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beverage is expected; the experience is what differentiates.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29200" y="5943600"/>
            <a:ext cx="914400" cy="0"/>
          </a:xfrm>
          <a:prstGeom prst="line">
            <a:avLst/>
          </a:prstGeom>
          <a:noFill/>
          <a:ln w="12700">
            <a:solidFill>
              <a:srgbClr val="C884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57607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88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End —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178040" y="5943600"/>
            <a:ext cx="914400" cy="0"/>
          </a:xfrm>
          <a:prstGeom prst="line">
            <a:avLst/>
          </a:prstGeom>
          <a:noFill/>
          <a:ln w="12700">
            <a:solidFill>
              <a:srgbClr val="C8842B"/>
            </a:solidFill>
            <a:prstDash val="soli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D1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F5EBDC"/>
                </a:solidFill>
              </a:rPr>
              <a:t>BRIGHT COFFEE ·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" y="2011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i="1" dirty="0">
                <a:solidFill>
                  <a:srgbClr val="E89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 to you.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2560320"/>
            <a:ext cx="109728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0" dirty="0">
                <a:solidFill>
                  <a:srgbClr val="F5EB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 </a:t>
            </a:r>
            <a:pPr algn="r" indent="0" marL="0">
              <a:buNone/>
            </a:pPr>
            <a:r>
              <a:rPr lang="en-US" sz="18000" i="1" dirty="0">
                <a:solidFill>
                  <a:srgbClr val="E89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</a:t>
            </a:r>
            <a:pPr algn="r" indent="0" marL="0">
              <a:buNone/>
            </a:pPr>
            <a:r>
              <a:rPr lang="en-US" sz="18000" dirty="0">
                <a:solidFill>
                  <a:srgbClr val="F5EB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</a:t>
            </a:r>
            <a:endParaRPr lang="en-US" sz="18000" dirty="0"/>
          </a:p>
        </p:txBody>
      </p:sp>
      <p:sp>
        <p:nvSpPr>
          <p:cNvPr id="5" name="Shape 3"/>
          <p:cNvSpPr/>
          <p:nvPr/>
        </p:nvSpPr>
        <p:spPr>
          <a:xfrm>
            <a:off x="8092440" y="5760720"/>
            <a:ext cx="3657600" cy="0"/>
          </a:xfrm>
          <a:prstGeom prst="line">
            <a:avLst/>
          </a:prstGeom>
          <a:noFill/>
          <a:ln w="12700">
            <a:solidFill>
              <a:srgbClr val="C884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5852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F5E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· Questions · Next steps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640080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F5EBDC"/>
                </a:solidFill>
              </a:rPr>
              <a:t>PREPARED BY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" y="65836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EB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Candice Shabangu — Ishe Anopa Consultants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Ishe Anopa Consultants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Bright Coffee — Revenue Analysis H1 2023</dc:title>
  <dc:subject>PptxGenJS Presentation</dc:subject>
  <dc:creator>Candice Shabangu · Ishe Anopa Consultants</dc:creator>
  <cp:lastModifiedBy>Candice Shabangu · Ishe Anopa Consultants</cp:lastModifiedBy>
  <cp:revision>1</cp:revision>
  <dcterms:created xsi:type="dcterms:W3CDTF">2026-05-03T08:56:18Z</dcterms:created>
  <dcterms:modified xsi:type="dcterms:W3CDTF">2026-05-03T08:56:18Z</dcterms:modified>
</cp:coreProperties>
</file>